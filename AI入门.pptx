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ebe688efe4a71" /><Relationship Type="http://schemas.openxmlformats.org/officeDocument/2006/relationships/extended-properties" Target="/docProps/app.xml" Id="R14b53bfb69e64447" /><Relationship Type="http://schemas.openxmlformats.org/officeDocument/2006/relationships/officeDocument" Target="/ppt/presentation.xml" Id="R4c7b9aee9b22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5f03e15a14cd8"/>
  </p:sldMasterIdLst>
  <p:notesMasterIdLst>
    <p:notesMasterId xmlns:r="http://schemas.openxmlformats.org/officeDocument/2006/relationships" r:id="Rf9b6a11aa8bc49e9"/>
  </p:notesMasterIdLst>
  <p:sldIdLst>
    <p:sldId xmlns:r="http://schemas.openxmlformats.org/officeDocument/2006/relationships" id="256" r:id="R5e50f06a11be4c46"/>
    <p:sldId xmlns:r="http://schemas.openxmlformats.org/officeDocument/2006/relationships" id="257" r:id="R8ff0cbeb5e834358"/>
    <p:sldId xmlns:r="http://schemas.openxmlformats.org/officeDocument/2006/relationships" id="258" r:id="R719d2d5484e442d2"/>
    <p:sldId xmlns:r="http://schemas.openxmlformats.org/officeDocument/2006/relationships" id="259" r:id="Rcf305beb729a4dbc"/>
    <p:sldId xmlns:r="http://schemas.openxmlformats.org/officeDocument/2006/relationships" id="260" r:id="Rd94151f5a51f41f6"/>
    <p:sldId xmlns:r="http://schemas.openxmlformats.org/officeDocument/2006/relationships" id="261" r:id="R176bcbd1e46c4f5c"/>
    <p:sldId xmlns:r="http://schemas.openxmlformats.org/officeDocument/2006/relationships" id="262" r:id="Rb096c685f8c642be"/>
    <p:sldId xmlns:r="http://schemas.openxmlformats.org/officeDocument/2006/relationships" id="263" r:id="R18b0929838434a09"/>
    <p:sldId xmlns:r="http://schemas.openxmlformats.org/officeDocument/2006/relationships" id="264" r:id="Re5f348511b174cc1"/>
    <p:sldId xmlns:r="http://schemas.openxmlformats.org/officeDocument/2006/relationships" id="265" r:id="R3ec4075cfcaa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b4d6f5adb6450c" /><Relationship Type="http://schemas.openxmlformats.org/officeDocument/2006/relationships/slideMaster" Target="/ppt/slideMasters/slideMaster1.xml" Id="R5615f03e15a14cd8" /><Relationship Type="http://schemas.openxmlformats.org/officeDocument/2006/relationships/notesMaster" Target="/ppt/notesMasters/notesMaster1.xml" Id="Rf9b6a11aa8bc49e9" /><Relationship Type="http://schemas.openxmlformats.org/officeDocument/2006/relationships/presProps" Target="/ppt/presProps.xml" Id="R8f21b3be2c4d4142" /><Relationship Type="http://schemas.openxmlformats.org/officeDocument/2006/relationships/tableStyles" Target="/ppt/tableStyles.xml" Id="R75ecf3e8f31c4057" /><Relationship Type="http://schemas.openxmlformats.org/officeDocument/2006/relationships/slide" Target="/ppt/slides/slide1.xml" Id="R5e50f06a11be4c46" /><Relationship Type="http://schemas.openxmlformats.org/officeDocument/2006/relationships/slide" Target="/ppt/slides/slide2.xml" Id="R8ff0cbeb5e834358" /><Relationship Type="http://schemas.openxmlformats.org/officeDocument/2006/relationships/slide" Target="/ppt/slides/slide3.xml" Id="R719d2d5484e442d2" /><Relationship Type="http://schemas.openxmlformats.org/officeDocument/2006/relationships/slide" Target="/ppt/slides/slide4.xml" Id="Rcf305beb729a4dbc" /><Relationship Type="http://schemas.openxmlformats.org/officeDocument/2006/relationships/slide" Target="/ppt/slides/slide5.xml" Id="Rd94151f5a51f41f6" /><Relationship Type="http://schemas.openxmlformats.org/officeDocument/2006/relationships/slide" Target="/ppt/slides/slide6.xml" Id="R176bcbd1e46c4f5c" /><Relationship Type="http://schemas.openxmlformats.org/officeDocument/2006/relationships/slide" Target="/ppt/slides/slide7.xml" Id="Rb096c685f8c642be" /><Relationship Type="http://schemas.openxmlformats.org/officeDocument/2006/relationships/slide" Target="/ppt/slides/slide8.xml" Id="R18b0929838434a09" /><Relationship Type="http://schemas.openxmlformats.org/officeDocument/2006/relationships/slide" Target="/ppt/slides/slide9.xml" Id="Re5f348511b174cc1" /><Relationship Type="http://schemas.openxmlformats.org/officeDocument/2006/relationships/slide" Target="/ppt/slides/slide10.xml" Id="R3ec4075cfcaa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509a29a14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9b6d124104504" /><Relationship Type="http://schemas.openxmlformats.org/officeDocument/2006/relationships/notesMaster" Target="/ppt/notesMasters/notesMaster1.xml" Id="Rc7a058f9050a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76e60801c4e51" /><Relationship Type="http://schemas.openxmlformats.org/officeDocument/2006/relationships/notesMaster" Target="/ppt/notesMasters/notesMaster1.xml" Id="R6b2c3c640ecd44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626dcc946e4486" /><Relationship Type="http://schemas.openxmlformats.org/officeDocument/2006/relationships/notesMaster" Target="/ppt/notesMasters/notesMaster1.xml" Id="Rc3d3d4b6ea62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7e138e4c5d4345" /><Relationship Type="http://schemas.openxmlformats.org/officeDocument/2006/relationships/notesMaster" Target="/ppt/notesMasters/notesMaster1.xml" Id="R64954aa8c07b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03cc208e24e51" /><Relationship Type="http://schemas.openxmlformats.org/officeDocument/2006/relationships/notesMaster" Target="/ppt/notesMasters/notesMaster1.xml" Id="Rfbc302067152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71115f2ab84cf7" /><Relationship Type="http://schemas.openxmlformats.org/officeDocument/2006/relationships/notesMaster" Target="/ppt/notesMasters/notesMaster1.xml" Id="R2b8d8b2d5e2d49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843f5d69344df4" /><Relationship Type="http://schemas.openxmlformats.org/officeDocument/2006/relationships/notesMaster" Target="/ppt/notesMasters/notesMaster1.xml" Id="R93817ed3685a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b13036e4604f91" /><Relationship Type="http://schemas.openxmlformats.org/officeDocument/2006/relationships/notesMaster" Target="/ppt/notesMasters/notesMaster1.xml" Id="R943fbdbc8c59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d2cf110223469f" /><Relationship Type="http://schemas.openxmlformats.org/officeDocument/2006/relationships/notesMaster" Target="/ppt/notesMasters/notesMaster1.xml" Id="R9b7c50d9f294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da43e96348409e" /><Relationship Type="http://schemas.openxmlformats.org/officeDocument/2006/relationships/notesMaster" Target="/ppt/notesMasters/notesMaster1.xml" Id="R9ab1d7a690a8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cd2517b5a44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45e39352542a0" /><Relationship Type="http://schemas.openxmlformats.org/officeDocument/2006/relationships/slideLayout" Target="/ppt/slideLayouts/slideLayout1.xml" Id="R06b8cafd38e6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b8cafd38e6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abd4c09de4e09" /><Relationship Type="http://schemas.openxmlformats.org/officeDocument/2006/relationships/notesSlide" Target="/ppt/notesSlides/notesSlide1.xml" Id="R9439887ae891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b9d8983e94c9b" /><Relationship Type="http://schemas.openxmlformats.org/officeDocument/2006/relationships/notesSlide" Target="/ppt/notesSlides/notesSlide2.xml" Id="R011706377cf44a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0468b3b434c02" /><Relationship Type="http://schemas.openxmlformats.org/officeDocument/2006/relationships/notesSlide" Target="/ppt/notesSlides/notesSlide3.xml" Id="Rc59f209985514b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bf339a6247a9" /><Relationship Type="http://schemas.openxmlformats.org/officeDocument/2006/relationships/notesSlide" Target="/ppt/notesSlides/notesSlide4.xml" Id="R8ff3be3f751e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2779aacc447c1" /><Relationship Type="http://schemas.openxmlformats.org/officeDocument/2006/relationships/notesSlide" Target="/ppt/notesSlides/notesSlide5.xml" Id="Rf36aafd67a1940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b86ab65014ae1" /><Relationship Type="http://schemas.openxmlformats.org/officeDocument/2006/relationships/notesSlide" Target="/ppt/notesSlides/notesSlide6.xml" Id="R1fc736545a1c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67636255a4743" /><Relationship Type="http://schemas.openxmlformats.org/officeDocument/2006/relationships/notesSlide" Target="/ppt/notesSlides/notesSlide7.xml" Id="R261435d0ea354a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452a4cd4046fd" /><Relationship Type="http://schemas.openxmlformats.org/officeDocument/2006/relationships/notesSlide" Target="/ppt/notesSlides/notesSlide8.xml" Id="R4c9fa842b82342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e611a35fa461e" /><Relationship Type="http://schemas.openxmlformats.org/officeDocument/2006/relationships/notesSlide" Target="/ppt/notesSlides/notesSlide9.xml" Id="Rca6a8bcbd085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a18dc569748a5" /><Relationship Type="http://schemas.openxmlformats.org/officeDocument/2006/relationships/notesSlide" Target="/ppt/notesSlides/notesSlide10.xml" Id="R005b33032d6d48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F6651D0-81B8-4AAF-98EF-CDC12E5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基础 · 学习材料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16983DA-02E7-41A3-BE84-496D6168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人工智能入门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9091D6F-571B-495F-B50E-38D82333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基本概念 · 发展历史 · 核心算法 · 应用场景</a:t>
            </a:r>
          </a:p>
        </p:txBody>
      </p:sp>
      <p:sp>
        <p:nvSpPr>
          <p:cNvPr id="4" name="cover-note">
            <a:extLst xmlns:a="http://schemas.openxmlformats.org/drawingml/2006/main">
              <a:ext uri="{FF2B5EF4-FFF2-40B4-BE49-F238E27FC236}">
                <a16:creationId xmlns:a16="http://schemas.microsoft.com/office/drawing/2014/main" id="{79052840-2C25-49DF-BA73-7135CE3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一份面向初学者的 AI 知识概览</a:t>
            </a:r>
          </a:p>
        </p:txBody>
      </p:sp>
      <p:sp>
        <p:nvSpPr>
          <p:cNvPr id="5" name="cover-nest">
            <a:extLst xmlns:a="http://schemas.openxmlformats.org/drawingml/2006/main">
              <a:ext uri="{FF2B5EF4-FFF2-40B4-BE49-F238E27FC236}">
                <a16:creationId xmlns:a16="http://schemas.microsoft.com/office/drawing/2014/main" id="{2E65096B-828B-42DF-AB9E-B4637320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1DA1F07A-3FD6-40E5-9F1F-F30EB58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人工智能</a:t>
            </a:r>
          </a:p>
        </p:txBody>
      </p:sp>
      <p:sp>
        <p:nvSpPr>
          <p:cNvPr id="7" name="cover-nest">
            <a:extLst xmlns:a="http://schemas.openxmlformats.org/drawingml/2006/main">
              <a:ext uri="{FF2B5EF4-FFF2-40B4-BE49-F238E27FC236}">
                <a16:creationId xmlns:a16="http://schemas.microsoft.com/office/drawing/2014/main" id="{DACA9AEE-BDB6-422F-81B4-F572BEF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53E45543-8B5E-4CA9-AAF1-A6747F5E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机器学习</a:t>
            </a:r>
          </a:p>
        </p:txBody>
      </p:sp>
      <p:sp>
        <p:nvSpPr>
          <p:cNvPr id="9" name="cover-nest">
            <a:extLst xmlns:a="http://schemas.openxmlformats.org/drawingml/2006/main">
              <a:ext uri="{FF2B5EF4-FFF2-40B4-BE49-F238E27FC236}">
                <a16:creationId xmlns:a16="http://schemas.microsoft.com/office/drawing/2014/main" id="{A4388AB5-9700-48B8-9162-FF91668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669CF2B4-4C34-4842-8001-F0184F1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11" name="cover-nest">
            <a:extLst xmlns:a="http://schemas.openxmlformats.org/drawingml/2006/main">
              <a:ext uri="{FF2B5EF4-FFF2-40B4-BE49-F238E27FC236}">
                <a16:creationId xmlns:a16="http://schemas.microsoft.com/office/drawing/2014/main" id="{71BCA0E2-0E61-46EA-BCB5-1759CBDC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B9A9181D-AA6C-47EB-9A93-91682AA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生成式 AI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8BB9A58-AB54-4CB3-B900-35C860B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2C985E6-2F73-413E-AE11-6B28D86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91821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5DEC4965-5797-4DA1-A316-F1A96561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8AA7EC-CE5E-4755-8DF2-10F86FCE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这份材料会带你了解四件事</a:t>
            </a:r>
          </a:p>
        </p:txBody>
      </p:sp>
      <p:sp>
        <p:nvSpPr>
          <p:cNvPr id="3" name="agenda-num">
            <a:extLst xmlns:a="http://schemas.openxmlformats.org/drawingml/2006/main">
              <a:ext uri="{FF2B5EF4-FFF2-40B4-BE49-F238E27FC236}">
                <a16:creationId xmlns:a16="http://schemas.microsoft.com/office/drawing/2014/main" id="{3A9E8C7A-2AD5-424E-9667-0110F8E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BA393209-280A-41BA-A279-6017D4B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什么是 AI</a:t>
            </a:r>
          </a:p>
        </p:txBody>
      </p:sp>
      <p:sp>
        <p:nvSpPr>
          <p:cNvPr id="5" name="agenda-desc">
            <a:extLst xmlns:a="http://schemas.openxmlformats.org/drawingml/2006/main">
              <a:ext uri="{FF2B5EF4-FFF2-40B4-BE49-F238E27FC236}">
                <a16:creationId xmlns:a16="http://schemas.microsoft.com/office/drawing/2014/main" id="{428CCF39-BA39-40F7-8F63-06C7A823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定义、核心能力，以及 AI、机器学习、深度学习之间的关系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0BAEDD2-2D0F-4782-B760-14F4D954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num">
            <a:extLst xmlns:a="http://schemas.openxmlformats.org/drawingml/2006/main">
              <a:ext uri="{FF2B5EF4-FFF2-40B4-BE49-F238E27FC236}">
                <a16:creationId xmlns:a16="http://schemas.microsoft.com/office/drawing/2014/main" id="{6E38D5CB-0E89-41C5-8244-9A5E69F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FD7DB4A8-EC97-402F-82ED-5A2F8C1D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的发展历史</a:t>
            </a:r>
          </a:p>
        </p:txBody>
      </p:sp>
      <p:sp>
        <p:nvSpPr>
          <p:cNvPr id="9" name="agenda-desc">
            <a:extLst xmlns:a="http://schemas.openxmlformats.org/drawingml/2006/main">
              <a:ext uri="{FF2B5EF4-FFF2-40B4-BE49-F238E27FC236}">
                <a16:creationId xmlns:a16="http://schemas.microsoft.com/office/drawing/2014/main" id="{F3386EEA-2968-4426-9B87-A1562CC1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三次浪潮、两次寒冬，从 1956 年达特茅斯会议到 ChatGPT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4633ABC-E377-4987-9C6A-F234287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">
            <a:extLst xmlns:a="http://schemas.openxmlformats.org/drawingml/2006/main">
              <a:ext uri="{FF2B5EF4-FFF2-40B4-BE49-F238E27FC236}">
                <a16:creationId xmlns:a16="http://schemas.microsoft.com/office/drawing/2014/main" id="{5DFDF126-8E80-4B78-8288-1FFB0B7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4F7E1768-8F56-4FDD-99D9-8330522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的算法</a:t>
            </a:r>
          </a:p>
        </p:txBody>
      </p:sp>
      <p:sp>
        <p:nvSpPr>
          <p:cNvPr id="13" name="agenda-desc">
            <a:extLst xmlns:a="http://schemas.openxmlformats.org/drawingml/2006/main">
              <a:ext uri="{FF2B5EF4-FFF2-40B4-BE49-F238E27FC236}">
                <a16:creationId xmlns:a16="http://schemas.microsoft.com/office/drawing/2014/main" id="{1B1712B6-BB02-47EC-B018-3DF91D37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机器学习三大类，以及当下主流的深度学习算法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9995CA5-97EE-4990-BBE8-9D99FD0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">
            <a:extLst xmlns:a="http://schemas.openxmlformats.org/drawingml/2006/main">
              <a:ext uri="{FF2B5EF4-FFF2-40B4-BE49-F238E27FC236}">
                <a16:creationId xmlns:a16="http://schemas.microsoft.com/office/drawing/2014/main" id="{07E7B90C-20A8-4012-9011-A6D02D2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FAF2FFFB-0C2A-4815-9D7A-DA76BD7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的应用场景</a:t>
            </a:r>
          </a:p>
        </p:txBody>
      </p:sp>
      <p:sp>
        <p:nvSpPr>
          <p:cNvPr id="17" name="agenda-desc">
            <a:extLst xmlns:a="http://schemas.openxmlformats.org/drawingml/2006/main">
              <a:ext uri="{FF2B5EF4-FFF2-40B4-BE49-F238E27FC236}">
                <a16:creationId xmlns:a16="http://schemas.microsoft.com/office/drawing/2014/main" id="{0512F943-6BDB-4059-854E-72FBE15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视觉、语言、语音、推荐，以及医疗、金融、制造等落地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A44D8A-0E20-4357-8CD8-301AF920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9BC429F-3DDC-4432-8B60-D271EF9C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1712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8344867-E51C-4C89-A2BA-E5DB2D5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362191-EA64-44B1-90A7-D3BB144E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是让机器具备类人智能的技术</a:t>
            </a:r>
          </a:p>
        </p:txBody>
      </p:sp>
      <p:sp>
        <p:nvSpPr>
          <p:cNvPr id="3" name="def-panel">
            <a:extLst xmlns:a="http://schemas.openxmlformats.org/drawingml/2006/main">
              <a:ext uri="{FF2B5EF4-FFF2-40B4-BE49-F238E27FC236}">
                <a16:creationId xmlns:a16="http://schemas.microsoft.com/office/drawing/2014/main" id="{CF33770A-E197-42B0-83DC-41EA4F0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f-text">
            <a:extLst xmlns:a="http://schemas.openxmlformats.org/drawingml/2006/main">
              <a:ext uri="{FF2B5EF4-FFF2-40B4-BE49-F238E27FC236}">
                <a16:creationId xmlns:a16="http://schemas.microsoft.com/office/drawing/2014/main" id="{212E48AA-423E-40A8-AA7D-6DEFC035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人工智能（Artificial Intelligence，简称 AI）是计算机科学的一个分支，研究如何让机器完成通常需要人类智能才能完成的任务——比如学习、推理、感知和决策。</a:t>
            </a:r>
          </a:p>
        </p:txBody>
      </p:sp>
      <p:sp>
        <p:nvSpPr>
          <p:cNvPr id="5" name="cap-square">
            <a:extLst xmlns:a="http://schemas.openxmlformats.org/drawingml/2006/main">
              <a:ext uri="{FF2B5EF4-FFF2-40B4-BE49-F238E27FC236}">
                <a16:creationId xmlns:a16="http://schemas.microsoft.com/office/drawing/2014/main" id="{F81CD188-977D-4175-8231-DA2F6D2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-title">
            <a:extLst xmlns:a="http://schemas.openxmlformats.org/drawingml/2006/main">
              <a:ext uri="{FF2B5EF4-FFF2-40B4-BE49-F238E27FC236}">
                <a16:creationId xmlns:a16="http://schemas.microsoft.com/office/drawing/2014/main" id="{0CBCC18F-2AAF-416C-BF6A-180803D1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7" name="cap-desc">
            <a:extLst xmlns:a="http://schemas.openxmlformats.org/drawingml/2006/main">
              <a:ext uri="{FF2B5EF4-FFF2-40B4-BE49-F238E27FC236}">
                <a16:creationId xmlns:a16="http://schemas.microsoft.com/office/drawing/2014/main" id="{C76F78E9-09AC-41CD-BBC9-C9DEF06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从数据中自动发现规律</a:t>
            </a:r>
          </a:p>
        </p:txBody>
      </p:sp>
      <p:sp>
        <p:nvSpPr>
          <p:cNvPr id="8" name="cap-square">
            <a:extLst xmlns:a="http://schemas.openxmlformats.org/drawingml/2006/main">
              <a:ext uri="{FF2B5EF4-FFF2-40B4-BE49-F238E27FC236}">
                <a16:creationId xmlns:a16="http://schemas.microsoft.com/office/drawing/2014/main" id="{E39747DB-708E-4C8F-AF92-B322701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title">
            <a:extLst xmlns:a="http://schemas.openxmlformats.org/drawingml/2006/main">
              <a:ext uri="{FF2B5EF4-FFF2-40B4-BE49-F238E27FC236}">
                <a16:creationId xmlns:a16="http://schemas.microsoft.com/office/drawing/2014/main" id="{01A3DE65-ED33-4CB5-85AD-6032C19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cap-desc">
            <a:extLst xmlns:a="http://schemas.openxmlformats.org/drawingml/2006/main">
              <a:ext uri="{FF2B5EF4-FFF2-40B4-BE49-F238E27FC236}">
                <a16:creationId xmlns:a16="http://schemas.microsoft.com/office/drawing/2014/main" id="{851795CA-70FF-432D-8E7C-473D6A75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基于已有知识得出结论</a:t>
            </a:r>
          </a:p>
        </p:txBody>
      </p:sp>
      <p:sp>
        <p:nvSpPr>
          <p:cNvPr id="11" name="cap-square">
            <a:extLst xmlns:a="http://schemas.openxmlformats.org/drawingml/2006/main">
              <a:ext uri="{FF2B5EF4-FFF2-40B4-BE49-F238E27FC236}">
                <a16:creationId xmlns:a16="http://schemas.microsoft.com/office/drawing/2014/main" id="{6137860F-CB7E-4028-9C16-08A9C9C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title">
            <a:extLst xmlns:a="http://schemas.openxmlformats.org/drawingml/2006/main">
              <a:ext uri="{FF2B5EF4-FFF2-40B4-BE49-F238E27FC236}">
                <a16:creationId xmlns:a16="http://schemas.microsoft.com/office/drawing/2014/main" id="{84BB98F7-DA0C-4231-A2B0-31C911BB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3" name="cap-desc">
            <a:extLst xmlns:a="http://schemas.openxmlformats.org/drawingml/2006/main">
              <a:ext uri="{FF2B5EF4-FFF2-40B4-BE49-F238E27FC236}">
                <a16:creationId xmlns:a16="http://schemas.microsoft.com/office/drawing/2014/main" id="{661727D3-55DF-4CFB-9E11-72FEC45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看懂图像、听懂语音、理解文字</a:t>
            </a:r>
          </a:p>
        </p:txBody>
      </p:sp>
      <p:sp>
        <p:nvSpPr>
          <p:cNvPr id="14" name="cap-square">
            <a:extLst xmlns:a="http://schemas.openxmlformats.org/drawingml/2006/main">
              <a:ext uri="{FF2B5EF4-FFF2-40B4-BE49-F238E27FC236}">
                <a16:creationId xmlns:a16="http://schemas.microsoft.com/office/drawing/2014/main" id="{620C13DB-3A22-4705-BA4C-E6AE912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title">
            <a:extLst xmlns:a="http://schemas.openxmlformats.org/drawingml/2006/main">
              <a:ext uri="{FF2B5EF4-FFF2-40B4-BE49-F238E27FC236}">
                <a16:creationId xmlns:a16="http://schemas.microsoft.com/office/drawing/2014/main" id="{97CF969A-66CF-4DFC-983E-5B8BAD6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决策与规划</a:t>
            </a:r>
          </a:p>
        </p:txBody>
      </p:sp>
      <p:sp>
        <p:nvSpPr>
          <p:cNvPr id="16" name="cap-desc">
            <a:extLst xmlns:a="http://schemas.openxmlformats.org/drawingml/2006/main">
              <a:ext uri="{FF2B5EF4-FFF2-40B4-BE49-F238E27FC236}">
                <a16:creationId xmlns:a16="http://schemas.microsoft.com/office/drawing/2014/main" id="{05AA045F-FA6B-4C51-B353-431516F1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在复杂条件下选择最优行动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7F5EB3E-18F2-4EE2-89E3-43146400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31C3C4-C18F-48E9-94F2-9E69BE6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55099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5D5217A-161B-4A37-9525-5474CEB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1B9196-88C3-43E8-B1D8-4E5EA73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是一个层层包含的概念体系</a:t>
            </a:r>
          </a:p>
        </p:txBody>
      </p:sp>
      <p:sp>
        <p:nvSpPr>
          <p:cNvPr id="3" name="hier-intro">
            <a:extLst xmlns:a="http://schemas.openxmlformats.org/drawingml/2006/main">
              <a:ext uri="{FF2B5EF4-FFF2-40B4-BE49-F238E27FC236}">
                <a16:creationId xmlns:a16="http://schemas.microsoft.com/office/drawing/2014/main" id="{39128AD3-6FF0-45DB-8BDA-00B9443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这几个词经常被混用，其实它们是层层包含的关系：</a:t>
            </a:r>
          </a:p>
        </p:txBody>
      </p:sp>
      <p:sp>
        <p:nvSpPr>
          <p:cNvPr id="4" name="hier-point">
            <a:extLst xmlns:a="http://schemas.openxmlformats.org/drawingml/2006/main">
              <a:ext uri="{FF2B5EF4-FFF2-40B4-BE49-F238E27FC236}">
                <a16:creationId xmlns:a16="http://schemas.microsoft.com/office/drawing/2014/main" id="{D5021137-F537-4F18-9C2B-6D40251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人工智能是最大的范畴</a:t>
            </a:r>
          </a:p>
        </p:txBody>
      </p:sp>
      <p:sp>
        <p:nvSpPr>
          <p:cNvPr id="5" name="hier-point">
            <a:extLst xmlns:a="http://schemas.openxmlformats.org/drawingml/2006/main">
              <a:ext uri="{FF2B5EF4-FFF2-40B4-BE49-F238E27FC236}">
                <a16:creationId xmlns:a16="http://schemas.microsoft.com/office/drawing/2014/main" id="{60CD2CEF-ED4E-4769-9F09-867B5DF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机器学习是人工智能的子集</a:t>
            </a:r>
          </a:p>
        </p:txBody>
      </p:sp>
      <p:sp>
        <p:nvSpPr>
          <p:cNvPr id="6" name="hier-point">
            <a:extLst xmlns:a="http://schemas.openxmlformats.org/drawingml/2006/main">
              <a:ext uri="{FF2B5EF4-FFF2-40B4-BE49-F238E27FC236}">
                <a16:creationId xmlns:a16="http://schemas.microsoft.com/office/drawing/2014/main" id="{BED33CAA-B293-488C-AE32-A5A5A317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深度学习又是机器学习的子集</a:t>
            </a:r>
          </a:p>
        </p:txBody>
      </p:sp>
      <p:sp>
        <p:nvSpPr>
          <p:cNvPr id="7" name="hier-point">
            <a:extLst xmlns:a="http://schemas.openxmlformats.org/drawingml/2006/main">
              <a:ext uri="{FF2B5EF4-FFF2-40B4-BE49-F238E27FC236}">
                <a16:creationId xmlns:a16="http://schemas.microsoft.com/office/drawing/2014/main" id="{DA81ADE1-D138-496C-AE34-05F4B13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大模型建立在深度学习之上</a:t>
            </a:r>
          </a:p>
        </p:txBody>
      </p:sp>
      <p:sp>
        <p:nvSpPr>
          <p:cNvPr id="8" name="hier-takeaway">
            <a:extLst xmlns:a="http://schemas.openxmlformats.org/drawingml/2006/main">
              <a:ext uri="{FF2B5EF4-FFF2-40B4-BE49-F238E27FC236}">
                <a16:creationId xmlns:a16="http://schemas.microsoft.com/office/drawing/2014/main" id="{3A759408-0E3A-4261-AFE8-B6A48CF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理解这层关系，能帮你更准确地读懂 AI 新闻。</a:t>
            </a:r>
          </a:p>
        </p:txBody>
      </p:sp>
      <p:sp>
        <p:nvSpPr>
          <p:cNvPr id="9" name="hier-box">
            <a:extLst xmlns:a="http://schemas.openxmlformats.org/drawingml/2006/main">
              <a:ext uri="{FF2B5EF4-FFF2-40B4-BE49-F238E27FC236}">
                <a16:creationId xmlns:a16="http://schemas.microsoft.com/office/drawing/2014/main" id="{59D021A0-BEE3-4F8A-9D37-2E23C30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6007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hier-box-label">
            <a:extLst xmlns:a="http://schemas.openxmlformats.org/drawingml/2006/main">
              <a:ext uri="{FF2B5EF4-FFF2-40B4-BE49-F238E27FC236}">
                <a16:creationId xmlns:a16="http://schemas.microsoft.com/office/drawing/2014/main" id="{0D8E3861-D2BD-4CDF-B4BF-E1CCA97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60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人工智能</a:t>
            </a:r>
          </a:p>
        </p:txBody>
      </p:sp>
      <p:sp>
        <p:nvSpPr>
          <p:cNvPr id="11" name="hier-box">
            <a:extLst xmlns:a="http://schemas.openxmlformats.org/drawingml/2006/main">
              <a:ext uri="{FF2B5EF4-FFF2-40B4-BE49-F238E27FC236}">
                <a16:creationId xmlns:a16="http://schemas.microsoft.com/office/drawing/2014/main" id="{F1CE8439-1E4E-4F02-A323-BA1C713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029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hier-box-label">
            <a:extLst xmlns:a="http://schemas.openxmlformats.org/drawingml/2006/main">
              <a:ext uri="{FF2B5EF4-FFF2-40B4-BE49-F238E27FC236}">
                <a16:creationId xmlns:a16="http://schemas.microsoft.com/office/drawing/2014/main" id="{CFE5B782-64C9-4844-9658-8C76E5D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029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机器学习</a:t>
            </a:r>
          </a:p>
        </p:txBody>
      </p:sp>
      <p:sp>
        <p:nvSpPr>
          <p:cNvPr id="13" name="hier-box">
            <a:extLst xmlns:a="http://schemas.openxmlformats.org/drawingml/2006/main">
              <a:ext uri="{FF2B5EF4-FFF2-40B4-BE49-F238E27FC236}">
                <a16:creationId xmlns:a16="http://schemas.microsoft.com/office/drawing/2014/main" id="{AAD62BE4-7640-4D7C-8B58-ECFE0EA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4457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hier-box-label">
            <a:extLst xmlns:a="http://schemas.openxmlformats.org/drawingml/2006/main">
              <a:ext uri="{FF2B5EF4-FFF2-40B4-BE49-F238E27FC236}">
                <a16:creationId xmlns:a16="http://schemas.microsoft.com/office/drawing/2014/main" id="{1A0EEEC6-4958-477F-A386-717EACD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4457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15" name="hier-box">
            <a:extLst xmlns:a="http://schemas.openxmlformats.org/drawingml/2006/main">
              <a:ext uri="{FF2B5EF4-FFF2-40B4-BE49-F238E27FC236}">
                <a16:creationId xmlns:a16="http://schemas.microsoft.com/office/drawing/2014/main" id="{B1F93B84-F2BD-41C9-A8BC-9F708EA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3886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hier-box-label">
            <a:extLst xmlns:a="http://schemas.openxmlformats.org/drawingml/2006/main">
              <a:ext uri="{FF2B5EF4-FFF2-40B4-BE49-F238E27FC236}">
                <a16:creationId xmlns:a16="http://schemas.microsoft.com/office/drawing/2014/main" id="{99CA953B-F6BE-4A2D-9E5E-7098C2CE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388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生成式 AI / 大模型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6C92406-DF9F-4961-B419-1D7BA98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985E3C4-667F-4FE7-B444-95FF745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068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3A20BEEE-D4FA-47D6-8814-04E476E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735875-7E6F-4C97-99AF-A195EDA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按能力范围，AI 通常分为三种</a:t>
            </a:r>
          </a:p>
        </p:txBody>
      </p:sp>
      <p:sp>
        <p:nvSpPr>
          <p:cNvPr id="3" name="kind-bar">
            <a:extLst xmlns:a="http://schemas.openxmlformats.org/drawingml/2006/main">
              <a:ext uri="{FF2B5EF4-FFF2-40B4-BE49-F238E27FC236}">
                <a16:creationId xmlns:a16="http://schemas.microsoft.com/office/drawing/2014/main" id="{860D5916-50A1-4CCF-B7E9-62F9019C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nd-term">
            <a:extLst xmlns:a="http://schemas.openxmlformats.org/drawingml/2006/main">
              <a:ext uri="{FF2B5EF4-FFF2-40B4-BE49-F238E27FC236}">
                <a16:creationId xmlns:a16="http://schemas.microsoft.com/office/drawing/2014/main" id="{B3A0FEE9-5577-4BA2-B958-1A08511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弱 AI（专用 AI）</a:t>
            </a:r>
          </a:p>
        </p:txBody>
      </p:sp>
      <p:sp>
        <p:nvSpPr>
          <p:cNvPr id="5" name="kind-en">
            <a:extLst xmlns:a="http://schemas.openxmlformats.org/drawingml/2006/main">
              <a:ext uri="{FF2B5EF4-FFF2-40B4-BE49-F238E27FC236}">
                <a16:creationId xmlns:a16="http://schemas.microsoft.com/office/drawing/2014/main" id="{90A6045B-64F5-4ECB-9D8F-11E9EF78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Narrow AI</a:t>
            </a:r>
          </a:p>
        </p:txBody>
      </p:sp>
      <p:sp>
        <p:nvSpPr>
          <p:cNvPr id="6" name="kind-desc">
            <a:extLst xmlns:a="http://schemas.openxmlformats.org/drawingml/2006/main">
              <a:ext uri="{FF2B5EF4-FFF2-40B4-BE49-F238E27FC236}">
                <a16:creationId xmlns:a16="http://schemas.microsoft.com/office/drawing/2014/main" id="{01D60187-3A05-4004-AF18-D6C49EE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35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只擅长某一类特定任务，例如人脸识别、下棋、ChatGPT。</a:t>
            </a:r>
          </a:p>
        </p:txBody>
      </p:sp>
      <p:sp>
        <p:nvSpPr>
          <p:cNvPr id="7" name="kind-status">
            <a:extLst xmlns:a="http://schemas.openxmlformats.org/drawingml/2006/main">
              <a:ext uri="{FF2B5EF4-FFF2-40B4-BE49-F238E27FC236}">
                <a16:creationId xmlns:a16="http://schemas.microsoft.com/office/drawing/2014/main" id="{105E60F8-D7E0-49A5-942E-208DC02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状态：今天能接触到的都是这一类</a:t>
            </a:r>
          </a:p>
        </p:txBody>
      </p:sp>
      <p:sp>
        <p:nvSpPr>
          <p:cNvPr id="8" name="kind-bar">
            <a:extLst xmlns:a="http://schemas.openxmlformats.org/drawingml/2006/main">
              <a:ext uri="{FF2B5EF4-FFF2-40B4-BE49-F238E27FC236}">
                <a16:creationId xmlns:a16="http://schemas.microsoft.com/office/drawing/2014/main" id="{1053B6A9-7063-49F9-8F93-04CABFC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ind-term">
            <a:extLst xmlns:a="http://schemas.openxmlformats.org/drawingml/2006/main">
              <a:ext uri="{FF2B5EF4-FFF2-40B4-BE49-F238E27FC236}">
                <a16:creationId xmlns:a16="http://schemas.microsoft.com/office/drawing/2014/main" id="{F5AA11A2-FF89-4C8C-8E74-11B1E5F0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强 AI（通用 AI / AGI）</a:t>
            </a:r>
          </a:p>
        </p:txBody>
      </p:sp>
      <p:sp>
        <p:nvSpPr>
          <p:cNvPr id="10" name="kind-en">
            <a:extLst xmlns:a="http://schemas.openxmlformats.org/drawingml/2006/main">
              <a:ext uri="{FF2B5EF4-FFF2-40B4-BE49-F238E27FC236}">
                <a16:creationId xmlns:a16="http://schemas.microsoft.com/office/drawing/2014/main" id="{DF699AD8-5183-46F6-87FA-698280EC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AGI</a:t>
            </a:r>
          </a:p>
        </p:txBody>
      </p:sp>
      <p:sp>
        <p:nvSpPr>
          <p:cNvPr id="11" name="kind-desc">
            <a:extLst xmlns:a="http://schemas.openxmlformats.org/drawingml/2006/main">
              <a:ext uri="{FF2B5EF4-FFF2-40B4-BE49-F238E27FC236}">
                <a16:creationId xmlns:a16="http://schemas.microsoft.com/office/drawing/2014/main" id="{16AD66C0-3229-4345-B0A6-0BB44CD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335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像人一样具备通用理解、推理与跨领域学习的能力。</a:t>
            </a:r>
          </a:p>
        </p:txBody>
      </p:sp>
      <p:sp>
        <p:nvSpPr>
          <p:cNvPr id="12" name="kind-status">
            <a:extLst xmlns:a="http://schemas.openxmlformats.org/drawingml/2006/main">
              <a:ext uri="{FF2B5EF4-FFF2-40B4-BE49-F238E27FC236}">
                <a16:creationId xmlns:a16="http://schemas.microsoft.com/office/drawing/2014/main" id="{CA69AF23-0930-4687-BF07-EDB0FAF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状态：尚未实现</a:t>
            </a:r>
          </a:p>
        </p:txBody>
      </p:sp>
      <p:sp>
        <p:nvSpPr>
          <p:cNvPr id="13" name="kind-bar">
            <a:extLst xmlns:a="http://schemas.openxmlformats.org/drawingml/2006/main">
              <a:ext uri="{FF2B5EF4-FFF2-40B4-BE49-F238E27FC236}">
                <a16:creationId xmlns:a16="http://schemas.microsoft.com/office/drawing/2014/main" id="{AA315E2D-EAC3-4F7A-BEB0-F4D03F08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kind-term">
            <a:extLst xmlns:a="http://schemas.openxmlformats.org/drawingml/2006/main">
              <a:ext uri="{FF2B5EF4-FFF2-40B4-BE49-F238E27FC236}">
                <a16:creationId xmlns:a16="http://schemas.microsoft.com/office/drawing/2014/main" id="{C8F6B28D-CB1A-4B5A-BE4C-C816C5F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 AI</a:t>
            </a:r>
          </a:p>
        </p:txBody>
      </p:sp>
      <p:sp>
        <p:nvSpPr>
          <p:cNvPr id="15" name="kind-en">
            <a:extLst xmlns:a="http://schemas.openxmlformats.org/drawingml/2006/main">
              <a:ext uri="{FF2B5EF4-FFF2-40B4-BE49-F238E27FC236}">
                <a16:creationId xmlns:a16="http://schemas.microsoft.com/office/drawing/2014/main" id="{6EF520FA-F555-4C15-9F52-DBDE2D9A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Super AI</a:t>
            </a:r>
          </a:p>
        </p:txBody>
      </p:sp>
      <p:sp>
        <p:nvSpPr>
          <p:cNvPr id="16" name="kind-desc">
            <a:extLst xmlns:a="http://schemas.openxmlformats.org/drawingml/2006/main">
              <a:ext uri="{FF2B5EF4-FFF2-40B4-BE49-F238E27FC236}">
                <a16:creationId xmlns:a16="http://schemas.microsoft.com/office/drawing/2014/main" id="{84461D7B-B597-4CED-AA09-FCFD7CD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335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全面超越人类智能。</a:t>
            </a:r>
          </a:p>
        </p:txBody>
      </p:sp>
      <p:sp>
        <p:nvSpPr>
          <p:cNvPr id="17" name="kind-status">
            <a:extLst xmlns:a="http://schemas.openxmlformats.org/drawingml/2006/main">
              <a:ext uri="{FF2B5EF4-FFF2-40B4-BE49-F238E27FC236}">
                <a16:creationId xmlns:a16="http://schemas.microsoft.com/office/drawing/2014/main" id="{967378FC-ACE9-4CCB-93BF-C689343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状态：目前只是理论设想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535B10-497C-4CB1-B159-4F42250E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A0D0AC-EB89-4F41-BE9A-FAAE6F3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0843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6BE5B8A7-16DB-4CD3-AC1F-DD529ECC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· AI 的发展历史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07FC5B-F6BD-4024-96FD-B8D2EEF3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经历了三次浪潮、两次寒冬</a:t>
            </a:r>
          </a:p>
        </p:txBody>
      </p:sp>
      <p:sp>
        <p:nvSpPr>
          <p:cNvPr id="3" name="hist-seg">
            <a:extLst xmlns:a="http://schemas.openxmlformats.org/drawingml/2006/main">
              <a:ext uri="{FF2B5EF4-FFF2-40B4-BE49-F238E27FC236}">
                <a16:creationId xmlns:a16="http://schemas.microsoft.com/office/drawing/2014/main" id="{FFDE34C8-DE12-42EA-9718-1B87E066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14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ist-seg-label">
            <a:extLst xmlns:a="http://schemas.openxmlformats.org/drawingml/2006/main">
              <a:ext uri="{FF2B5EF4-FFF2-40B4-BE49-F238E27FC236}">
                <a16:creationId xmlns:a16="http://schemas.microsoft.com/office/drawing/2014/main" id="{FFA86CEE-68C4-47F0-985B-916E790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第一次浪潮</a:t>
            </a:r>
          </a:p>
        </p:txBody>
      </p:sp>
      <p:sp>
        <p:nvSpPr>
          <p:cNvPr id="5" name="hist-years">
            <a:extLst xmlns:a="http://schemas.openxmlformats.org/drawingml/2006/main">
              <a:ext uri="{FF2B5EF4-FFF2-40B4-BE49-F238E27FC236}">
                <a16:creationId xmlns:a16="http://schemas.microsoft.com/office/drawing/2014/main" id="{1804140D-DEF8-45FB-9C67-C46709C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1956–1974</a:t>
            </a:r>
          </a:p>
        </p:txBody>
      </p:sp>
      <p:sp>
        <p:nvSpPr>
          <p:cNvPr id="6" name="hist-seg">
            <a:extLst xmlns:a="http://schemas.openxmlformats.org/drawingml/2006/main">
              <a:ext uri="{FF2B5EF4-FFF2-40B4-BE49-F238E27FC236}">
                <a16:creationId xmlns:a16="http://schemas.microsoft.com/office/drawing/2014/main" id="{0BEEA3B7-D740-4F6D-8F45-5AF26EA0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2114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ist-seg-label">
            <a:extLst xmlns:a="http://schemas.openxmlformats.org/drawingml/2006/main">
              <a:ext uri="{FF2B5EF4-FFF2-40B4-BE49-F238E27FC236}">
                <a16:creationId xmlns:a16="http://schemas.microsoft.com/office/drawing/2014/main" id="{716ED8D1-5AC3-4A98-A771-6D052C36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第一次寒冬</a:t>
            </a:r>
          </a:p>
        </p:txBody>
      </p:sp>
      <p:sp>
        <p:nvSpPr>
          <p:cNvPr id="8" name="hist-years">
            <a:extLst xmlns:a="http://schemas.openxmlformats.org/drawingml/2006/main">
              <a:ext uri="{FF2B5EF4-FFF2-40B4-BE49-F238E27FC236}">
                <a16:creationId xmlns:a16="http://schemas.microsoft.com/office/drawing/2014/main" id="{82B1441B-79EF-425D-98A2-9D23DDF8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1974–1980</a:t>
            </a:r>
          </a:p>
        </p:txBody>
      </p:sp>
      <p:sp>
        <p:nvSpPr>
          <p:cNvPr id="9" name="hist-seg">
            <a:extLst xmlns:a="http://schemas.openxmlformats.org/drawingml/2006/main">
              <a:ext uri="{FF2B5EF4-FFF2-40B4-BE49-F238E27FC236}">
                <a16:creationId xmlns:a16="http://schemas.microsoft.com/office/drawing/2014/main" id="{496E51DB-726F-45F1-B35F-50A80DD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114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ist-seg-label">
            <a:extLst xmlns:a="http://schemas.openxmlformats.org/drawingml/2006/main">
              <a:ext uri="{FF2B5EF4-FFF2-40B4-BE49-F238E27FC236}">
                <a16:creationId xmlns:a16="http://schemas.microsoft.com/office/drawing/2014/main" id="{13895333-931A-4EA0-A338-0421A53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第二次浪潮</a:t>
            </a:r>
          </a:p>
        </p:txBody>
      </p:sp>
      <p:sp>
        <p:nvSpPr>
          <p:cNvPr id="11" name="hist-years">
            <a:extLst xmlns:a="http://schemas.openxmlformats.org/drawingml/2006/main">
              <a:ext uri="{FF2B5EF4-FFF2-40B4-BE49-F238E27FC236}">
                <a16:creationId xmlns:a16="http://schemas.microsoft.com/office/drawing/2014/main" id="{1A54AFB9-8744-48CE-AFBF-E2F83EA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28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1980–1993</a:t>
            </a:r>
          </a:p>
        </p:txBody>
      </p:sp>
      <p:sp>
        <p:nvSpPr>
          <p:cNvPr id="12" name="hist-seg">
            <a:extLst xmlns:a="http://schemas.openxmlformats.org/drawingml/2006/main">
              <a:ext uri="{FF2B5EF4-FFF2-40B4-BE49-F238E27FC236}">
                <a16:creationId xmlns:a16="http://schemas.microsoft.com/office/drawing/2014/main" id="{88A8D39E-69E0-4A09-80AA-F92BD577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76400"/>
            <a:ext cx="2114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ist-seg-label">
            <a:extLst xmlns:a="http://schemas.openxmlformats.org/drawingml/2006/main">
              <a:ext uri="{FF2B5EF4-FFF2-40B4-BE49-F238E27FC236}">
                <a16:creationId xmlns:a16="http://schemas.microsoft.com/office/drawing/2014/main" id="{8949492C-AB09-46D9-83A7-262CB0E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76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第二次寒冬</a:t>
            </a:r>
          </a:p>
        </p:txBody>
      </p:sp>
      <p:sp>
        <p:nvSpPr>
          <p:cNvPr id="14" name="hist-years">
            <a:extLst xmlns:a="http://schemas.openxmlformats.org/drawingml/2006/main">
              <a:ext uri="{FF2B5EF4-FFF2-40B4-BE49-F238E27FC236}">
                <a16:creationId xmlns:a16="http://schemas.microsoft.com/office/drawing/2014/main" id="{57CF201C-C9E8-40FC-8ED5-C83DBE4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28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1993–2011</a:t>
            </a:r>
          </a:p>
        </p:txBody>
      </p:sp>
      <p:sp>
        <p:nvSpPr>
          <p:cNvPr id="15" name="hist-seg">
            <a:extLst xmlns:a="http://schemas.openxmlformats.org/drawingml/2006/main">
              <a:ext uri="{FF2B5EF4-FFF2-40B4-BE49-F238E27FC236}">
                <a16:creationId xmlns:a16="http://schemas.microsoft.com/office/drawing/2014/main" id="{83FE6FBB-30A2-42CB-B3CD-3DE26D2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21145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ist-seg-label">
            <a:extLst xmlns:a="http://schemas.openxmlformats.org/drawingml/2006/main">
              <a:ext uri="{FF2B5EF4-FFF2-40B4-BE49-F238E27FC236}">
                <a16:creationId xmlns:a16="http://schemas.microsoft.com/office/drawing/2014/main" id="{D1093AF2-B78D-41EB-A43E-7BDE4785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第三次浪潮</a:t>
            </a:r>
          </a:p>
        </p:txBody>
      </p:sp>
      <p:sp>
        <p:nvSpPr>
          <p:cNvPr id="17" name="hist-years">
            <a:extLst xmlns:a="http://schemas.openxmlformats.org/drawingml/2006/main">
              <a:ext uri="{FF2B5EF4-FFF2-40B4-BE49-F238E27FC236}">
                <a16:creationId xmlns:a16="http://schemas.microsoft.com/office/drawing/2014/main" id="{902046DB-EFA1-447E-9835-5F2AA6F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2012–至今</a:t>
            </a:r>
          </a:p>
        </p:txBody>
      </p:sp>
      <p:sp>
        <p:nvSpPr>
          <p:cNvPr id="18" name="hist-wave-name">
            <a:extLst xmlns:a="http://schemas.openxmlformats.org/drawingml/2006/main">
              <a:ext uri="{FF2B5EF4-FFF2-40B4-BE49-F238E27FC236}">
                <a16:creationId xmlns:a16="http://schemas.microsoft.com/office/drawing/2014/main" id="{9D0599CB-0631-4ED8-88C1-231F589C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第一波 · 符号主义</a:t>
            </a:r>
          </a:p>
        </p:txBody>
      </p:sp>
      <p:sp>
        <p:nvSpPr>
          <p:cNvPr id="19" name="hist-wave-years">
            <a:extLst xmlns:a="http://schemas.openxmlformats.org/drawingml/2006/main">
              <a:ext uri="{FF2B5EF4-FFF2-40B4-BE49-F238E27FC236}">
                <a16:creationId xmlns:a16="http://schemas.microsoft.com/office/drawing/2014/main" id="{8DF97B6B-2F6F-425A-A82F-8884D86A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1956–1974</a:t>
            </a:r>
          </a:p>
        </p:txBody>
      </p:sp>
      <p:sp>
        <p:nvSpPr>
          <p:cNvPr id="20" name="hist-wave-bullets">
            <a:extLst xmlns:a="http://schemas.openxmlformats.org/drawingml/2006/main">
              <a:ext uri="{FF2B5EF4-FFF2-40B4-BE49-F238E27FC236}">
                <a16:creationId xmlns:a16="http://schemas.microsoft.com/office/drawing/2014/main" id="{EFF18DCE-26F1-4C86-A916-18A0785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352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1956 达特茅斯会议命名 AI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感知机、专家系统兴起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预期过高，随后进入寒冬</a:t>
            </a:r>
          </a:p>
        </p:txBody>
      </p:sp>
      <p:sp>
        <p:nvSpPr>
          <p:cNvPr id="21" name="hist-wave-name">
            <a:extLst xmlns:a="http://schemas.openxmlformats.org/drawingml/2006/main">
              <a:ext uri="{FF2B5EF4-FFF2-40B4-BE49-F238E27FC236}">
                <a16:creationId xmlns:a16="http://schemas.microsoft.com/office/drawing/2014/main" id="{7C3DE015-1131-483F-9C93-CFECE02F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第二波 · 专家系统与统计</a:t>
            </a:r>
          </a:p>
        </p:txBody>
      </p:sp>
      <p:sp>
        <p:nvSpPr>
          <p:cNvPr id="22" name="hist-wave-years">
            <a:extLst xmlns:a="http://schemas.openxmlformats.org/drawingml/2006/main">
              <a:ext uri="{FF2B5EF4-FFF2-40B4-BE49-F238E27FC236}">
                <a16:creationId xmlns:a16="http://schemas.microsoft.com/office/drawing/2014/main" id="{1A2CB999-A62E-4D54-9CD6-2D6DC1B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1980–1993</a:t>
            </a:r>
          </a:p>
        </p:txBody>
      </p:sp>
      <p:sp>
        <p:nvSpPr>
          <p:cNvPr id="23" name="hist-wave-bullets">
            <a:extLst xmlns:a="http://schemas.openxmlformats.org/drawingml/2006/main">
              <a:ext uri="{FF2B5EF4-FFF2-40B4-BE49-F238E27FC236}">
                <a16:creationId xmlns:a16="http://schemas.microsoft.com/office/drawing/2014/main" id="{05FB46C2-C5BA-4C89-BC59-CDA4D8C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专家系统走向商业化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1986 反向传播算法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1997 深蓝击败象棋冠军</a:t>
            </a:r>
          </a:p>
        </p:txBody>
      </p:sp>
      <p:sp>
        <p:nvSpPr>
          <p:cNvPr id="24" name="hist-wave-name">
            <a:extLst xmlns:a="http://schemas.openxmlformats.org/drawingml/2006/main">
              <a:ext uri="{FF2B5EF4-FFF2-40B4-BE49-F238E27FC236}">
                <a16:creationId xmlns:a16="http://schemas.microsoft.com/office/drawing/2014/main" id="{59D982E8-B649-458B-A5D1-3CB4DF78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第三波 · 深度学习</a:t>
            </a:r>
          </a:p>
        </p:txBody>
      </p:sp>
      <p:sp>
        <p:nvSpPr>
          <p:cNvPr id="25" name="hist-wave-years">
            <a:extLst xmlns:a="http://schemas.openxmlformats.org/drawingml/2006/main">
              <a:ext uri="{FF2B5EF4-FFF2-40B4-BE49-F238E27FC236}">
                <a16:creationId xmlns:a16="http://schemas.microsoft.com/office/drawing/2014/main" id="{AE95FB49-DBD4-457D-B896-1AF7A70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2012–至今</a:t>
            </a:r>
          </a:p>
        </p:txBody>
      </p:sp>
      <p:sp>
        <p:nvSpPr>
          <p:cNvPr id="26" name="hist-wave-bullets">
            <a:extLst xmlns:a="http://schemas.openxmlformats.org/drawingml/2006/main">
              <a:ext uri="{FF2B5EF4-FFF2-40B4-BE49-F238E27FC236}">
                <a16:creationId xmlns:a16="http://schemas.microsoft.com/office/drawing/2014/main" id="{E48F6EC6-62A5-40B1-AF25-A1F9C5E9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3352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2012 AlexNet 引爆图像识别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2016 AlphaGo 战胜李世石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2017 Transformer / 2022 ChatGPT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FC47FF3-9DEA-469E-9244-D6E4A83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2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7629E39-F91E-47AB-96C9-E54AB38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70183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8AAAF22A-42F3-4244-93CB-693E10AD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AI 的算法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41D886-9EA9-42C7-9121-C072CBF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机器学习是 AI 最核心的方法</a:t>
            </a:r>
          </a:p>
        </p:txBody>
      </p:sp>
      <p:sp>
        <p:nvSpPr>
          <p:cNvPr id="3" name="ml-bar">
            <a:extLst xmlns:a="http://schemas.openxmlformats.org/drawingml/2006/main">
              <a:ext uri="{FF2B5EF4-FFF2-40B4-BE49-F238E27FC236}">
                <a16:creationId xmlns:a16="http://schemas.microsoft.com/office/drawing/2014/main" id="{156153C5-F2E6-4921-B798-0C7A80BD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l-term">
            <a:extLst xmlns:a="http://schemas.openxmlformats.org/drawingml/2006/main">
              <a:ext uri="{FF2B5EF4-FFF2-40B4-BE49-F238E27FC236}">
                <a16:creationId xmlns:a16="http://schemas.microsoft.com/office/drawing/2014/main" id="{ED1DF8DF-A366-41B6-B206-1CE229CE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监督学习</a:t>
            </a:r>
          </a:p>
        </p:txBody>
      </p:sp>
      <p:sp>
        <p:nvSpPr>
          <p:cNvPr id="5" name="ml-en">
            <a:extLst xmlns:a="http://schemas.openxmlformats.org/drawingml/2006/main">
              <a:ext uri="{FF2B5EF4-FFF2-40B4-BE49-F238E27FC236}">
                <a16:creationId xmlns:a16="http://schemas.microsoft.com/office/drawing/2014/main" id="{0D72B88D-2221-4D79-BA88-B6C0AE09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Supervised Learning</a:t>
            </a:r>
          </a:p>
        </p:txBody>
      </p:sp>
      <p:sp>
        <p:nvSpPr>
          <p:cNvPr id="6" name="ml-def">
            <a:extLst xmlns:a="http://schemas.openxmlformats.org/drawingml/2006/main">
              <a:ext uri="{FF2B5EF4-FFF2-40B4-BE49-F238E27FC236}">
                <a16:creationId xmlns:a16="http://schemas.microsoft.com/office/drawing/2014/main" id="{1BFDA2E4-CC78-4578-AADC-50A26E7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5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从带标签的数据中学习输入到输出的映射。</a:t>
            </a:r>
          </a:p>
        </p:txBody>
      </p:sp>
      <p:sp>
        <p:nvSpPr>
          <p:cNvPr id="7" name="ml-algo-label">
            <a:extLst xmlns:a="http://schemas.openxmlformats.org/drawingml/2006/main">
              <a:ext uri="{FF2B5EF4-FFF2-40B4-BE49-F238E27FC236}">
                <a16:creationId xmlns:a16="http://schemas.microsoft.com/office/drawing/2014/main" id="{C4383E10-A4FB-42A0-A77E-92B17B6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常见算法</a:t>
            </a:r>
          </a:p>
        </p:txBody>
      </p:sp>
      <p:sp>
        <p:nvSpPr>
          <p:cNvPr id="8" name="ml-algos">
            <a:extLst xmlns:a="http://schemas.openxmlformats.org/drawingml/2006/main">
              <a:ext uri="{FF2B5EF4-FFF2-40B4-BE49-F238E27FC236}">
                <a16:creationId xmlns:a16="http://schemas.microsoft.com/office/drawing/2014/main" id="{17C9B0E0-5D33-4E94-ACDF-1B53FDDD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35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线性回归、逻辑回归、决策树、随机森林、SVM、KNN</a:t>
            </a:r>
          </a:p>
        </p:txBody>
      </p:sp>
      <p:sp>
        <p:nvSpPr>
          <p:cNvPr id="9" name="ml-task-label">
            <a:extLst xmlns:a="http://schemas.openxmlformats.org/drawingml/2006/main">
              <a:ext uri="{FF2B5EF4-FFF2-40B4-BE49-F238E27FC236}">
                <a16:creationId xmlns:a16="http://schemas.microsoft.com/office/drawing/2014/main" id="{1EB240F0-E270-464F-8047-71BD487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典型任务</a:t>
            </a:r>
          </a:p>
        </p:txBody>
      </p:sp>
      <p:sp>
        <p:nvSpPr>
          <p:cNvPr id="10" name="ml-tasks">
            <a:extLst xmlns:a="http://schemas.openxmlformats.org/drawingml/2006/main">
              <a:ext uri="{FF2B5EF4-FFF2-40B4-BE49-F238E27FC236}">
                <a16:creationId xmlns:a16="http://schemas.microsoft.com/office/drawing/2014/main" id="{93008E10-EECA-472A-A701-52225C82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分类、回归、预测</a:t>
            </a:r>
          </a:p>
        </p:txBody>
      </p:sp>
      <p:sp>
        <p:nvSpPr>
          <p:cNvPr id="11" name="ml-bar">
            <a:extLst xmlns:a="http://schemas.openxmlformats.org/drawingml/2006/main">
              <a:ext uri="{FF2B5EF4-FFF2-40B4-BE49-F238E27FC236}">
                <a16:creationId xmlns:a16="http://schemas.microsoft.com/office/drawing/2014/main" id="{E2F4C501-6A5D-4F73-8586-22E53C0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l-term">
            <a:extLst xmlns:a="http://schemas.openxmlformats.org/drawingml/2006/main">
              <a:ext uri="{FF2B5EF4-FFF2-40B4-BE49-F238E27FC236}">
                <a16:creationId xmlns:a16="http://schemas.microsoft.com/office/drawing/2014/main" id="{1F922102-7049-47A6-AF2F-A073CBC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无监督学习</a:t>
            </a:r>
          </a:p>
        </p:txBody>
      </p:sp>
      <p:sp>
        <p:nvSpPr>
          <p:cNvPr id="13" name="ml-en">
            <a:extLst xmlns:a="http://schemas.openxmlformats.org/drawingml/2006/main">
              <a:ext uri="{FF2B5EF4-FFF2-40B4-BE49-F238E27FC236}">
                <a16:creationId xmlns:a16="http://schemas.microsoft.com/office/drawing/2014/main" id="{E24A16FC-BD6C-4782-B403-C6758861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Unsupervised Learning</a:t>
            </a:r>
          </a:p>
        </p:txBody>
      </p:sp>
      <p:sp>
        <p:nvSpPr>
          <p:cNvPr id="14" name="ml-def">
            <a:extLst xmlns:a="http://schemas.openxmlformats.org/drawingml/2006/main">
              <a:ext uri="{FF2B5EF4-FFF2-40B4-BE49-F238E27FC236}">
                <a16:creationId xmlns:a16="http://schemas.microsoft.com/office/drawing/2014/main" id="{0225914D-4701-47EA-9D3E-39E7D7F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5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从无标签的数据中发现隐藏结构与规律。</a:t>
            </a:r>
          </a:p>
        </p:txBody>
      </p:sp>
      <p:sp>
        <p:nvSpPr>
          <p:cNvPr id="15" name="ml-algo-label">
            <a:extLst xmlns:a="http://schemas.openxmlformats.org/drawingml/2006/main">
              <a:ext uri="{FF2B5EF4-FFF2-40B4-BE49-F238E27FC236}">
                <a16:creationId xmlns:a16="http://schemas.microsoft.com/office/drawing/2014/main" id="{912F570C-6852-46A5-BD5A-F16537C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常见算法</a:t>
            </a:r>
          </a:p>
        </p:txBody>
      </p:sp>
      <p:sp>
        <p:nvSpPr>
          <p:cNvPr id="16" name="ml-algos">
            <a:extLst xmlns:a="http://schemas.openxmlformats.org/drawingml/2006/main">
              <a:ext uri="{FF2B5EF4-FFF2-40B4-BE49-F238E27FC236}">
                <a16:creationId xmlns:a16="http://schemas.microsoft.com/office/drawing/2014/main" id="{96104C7C-A016-458D-832E-7E90D3A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4300"/>
            <a:ext cx="335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K-means、层次聚类、PCA、关联规则</a:t>
            </a:r>
          </a:p>
        </p:txBody>
      </p:sp>
      <p:sp>
        <p:nvSpPr>
          <p:cNvPr id="17" name="ml-task-label">
            <a:extLst xmlns:a="http://schemas.openxmlformats.org/drawingml/2006/main">
              <a:ext uri="{FF2B5EF4-FFF2-40B4-BE49-F238E27FC236}">
                <a16:creationId xmlns:a16="http://schemas.microsoft.com/office/drawing/2014/main" id="{BCAABC82-E26D-4E3D-9988-6B51693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典型任务</a:t>
            </a:r>
          </a:p>
        </p:txBody>
      </p:sp>
      <p:sp>
        <p:nvSpPr>
          <p:cNvPr id="18" name="ml-tasks">
            <a:extLst xmlns:a="http://schemas.openxmlformats.org/drawingml/2006/main">
              <a:ext uri="{FF2B5EF4-FFF2-40B4-BE49-F238E27FC236}">
                <a16:creationId xmlns:a16="http://schemas.microsoft.com/office/drawing/2014/main" id="{4B3138B0-239E-467B-AEA1-53A6531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721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聚类、降维、异常检测</a:t>
            </a:r>
          </a:p>
        </p:txBody>
      </p:sp>
      <p:sp>
        <p:nvSpPr>
          <p:cNvPr id="19" name="ml-bar">
            <a:extLst xmlns:a="http://schemas.openxmlformats.org/drawingml/2006/main">
              <a:ext uri="{FF2B5EF4-FFF2-40B4-BE49-F238E27FC236}">
                <a16:creationId xmlns:a16="http://schemas.microsoft.com/office/drawing/2014/main" id="{9C8765DC-19B7-4175-A28A-830E6968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l-term">
            <a:extLst xmlns:a="http://schemas.openxmlformats.org/drawingml/2006/main">
              <a:ext uri="{FF2B5EF4-FFF2-40B4-BE49-F238E27FC236}">
                <a16:creationId xmlns:a16="http://schemas.microsoft.com/office/drawing/2014/main" id="{FCF1A7A4-5B31-4D11-91F2-22804B0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强化学习</a:t>
            </a:r>
          </a:p>
        </p:txBody>
      </p:sp>
      <p:sp>
        <p:nvSpPr>
          <p:cNvPr id="21" name="ml-en">
            <a:extLst xmlns:a="http://schemas.openxmlformats.org/drawingml/2006/main">
              <a:ext uri="{FF2B5EF4-FFF2-40B4-BE49-F238E27FC236}">
                <a16:creationId xmlns:a16="http://schemas.microsoft.com/office/drawing/2014/main" id="{F04BD5AA-2F4D-42D6-AF74-370F457E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Reinforcement Learning</a:t>
            </a:r>
          </a:p>
        </p:txBody>
      </p:sp>
      <p:sp>
        <p:nvSpPr>
          <p:cNvPr id="22" name="ml-def">
            <a:extLst xmlns:a="http://schemas.openxmlformats.org/drawingml/2006/main">
              <a:ext uri="{FF2B5EF4-FFF2-40B4-BE49-F238E27FC236}">
                <a16:creationId xmlns:a16="http://schemas.microsoft.com/office/drawing/2014/main" id="{6BBD3E5E-A972-4A91-9BBF-5DB211A5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35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通过试错与环境交互，按奖励逐步学出最优策略。</a:t>
            </a:r>
          </a:p>
        </p:txBody>
      </p:sp>
      <p:sp>
        <p:nvSpPr>
          <p:cNvPr id="23" name="ml-algo-label">
            <a:extLst xmlns:a="http://schemas.openxmlformats.org/drawingml/2006/main">
              <a:ext uri="{FF2B5EF4-FFF2-40B4-BE49-F238E27FC236}">
                <a16:creationId xmlns:a16="http://schemas.microsoft.com/office/drawing/2014/main" id="{5102001F-F3E1-4826-A6F7-7A28F5DA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常见算法</a:t>
            </a:r>
          </a:p>
        </p:txBody>
      </p:sp>
      <p:sp>
        <p:nvSpPr>
          <p:cNvPr id="24" name="ml-algos">
            <a:extLst xmlns:a="http://schemas.openxmlformats.org/drawingml/2006/main">
              <a:ext uri="{FF2B5EF4-FFF2-40B4-BE49-F238E27FC236}">
                <a16:creationId xmlns:a16="http://schemas.microsoft.com/office/drawing/2014/main" id="{18EBBDC0-1A4E-4EE0-97E3-B43E07B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335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Q-learning、DQN、PPO</a:t>
            </a:r>
          </a:p>
        </p:txBody>
      </p:sp>
      <p:sp>
        <p:nvSpPr>
          <p:cNvPr id="25" name="ml-task-label">
            <a:extLst xmlns:a="http://schemas.openxmlformats.org/drawingml/2006/main">
              <a:ext uri="{FF2B5EF4-FFF2-40B4-BE49-F238E27FC236}">
                <a16:creationId xmlns:a16="http://schemas.microsoft.com/office/drawing/2014/main" id="{C159DB1C-6255-4471-B689-CE2DBDA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673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典型任务</a:t>
            </a:r>
          </a:p>
        </p:txBody>
      </p:sp>
      <p:sp>
        <p:nvSpPr>
          <p:cNvPr id="26" name="ml-tasks">
            <a:extLst xmlns:a="http://schemas.openxmlformats.org/drawingml/2006/main">
              <a:ext uri="{FF2B5EF4-FFF2-40B4-BE49-F238E27FC236}">
                <a16:creationId xmlns:a16="http://schemas.microsoft.com/office/drawing/2014/main" id="{A872D74E-5334-4967-90EE-4560DF4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721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游戏、机器人控制、自动驾驶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053608-9520-4838-BCD4-696DB804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2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3DE72A-0456-4A31-9220-E8E062C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73247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C5440611-67F6-465B-86FC-910E701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AI 的算法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B212F0-AB90-4D82-BBEA-B6D1631A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深度学习是当下最主流的一类算法</a:t>
            </a:r>
          </a:p>
        </p:txBody>
      </p:sp>
      <p:sp>
        <p:nvSpPr>
          <p:cNvPr id="3" name="algo-h1">
            <a:extLst xmlns:a="http://schemas.openxmlformats.org/drawingml/2006/main">
              <a:ext uri="{FF2B5EF4-FFF2-40B4-BE49-F238E27FC236}">
                <a16:creationId xmlns:a16="http://schemas.microsoft.com/office/drawing/2014/main" id="{06021048-A443-46AA-A34A-77FBDFBF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4" name="algo-h2">
            <a:extLst xmlns:a="http://schemas.openxmlformats.org/drawingml/2006/main">
              <a:ext uri="{FF2B5EF4-FFF2-40B4-BE49-F238E27FC236}">
                <a16:creationId xmlns:a16="http://schemas.microsoft.com/office/drawing/2014/main" id="{6A44513E-2670-436D-BC5F-F3B206B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38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擅长处理</a:t>
            </a:r>
          </a:p>
        </p:txBody>
      </p:sp>
      <p:sp>
        <p:nvSpPr>
          <p:cNvPr id="5" name="algo-h3">
            <a:extLst xmlns:a="http://schemas.openxmlformats.org/drawingml/2006/main">
              <a:ext uri="{FF2B5EF4-FFF2-40B4-BE49-F238E27FC236}">
                <a16:creationId xmlns:a16="http://schemas.microsoft.com/office/drawing/2014/main" id="{13267D65-8561-4559-BFDB-7A7A52D0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典型用途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66AF8EE-D7A1-4454-B061-8D11AF08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lgo-name">
            <a:extLst xmlns:a="http://schemas.openxmlformats.org/drawingml/2006/main">
              <a:ext uri="{FF2B5EF4-FFF2-40B4-BE49-F238E27FC236}">
                <a16:creationId xmlns:a16="http://schemas.microsoft.com/office/drawing/2014/main" id="{52B8CE29-80A5-45D9-A73F-A2A52E44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卷积神经网络</a:t>
            </a:r>
          </a:p>
        </p:txBody>
      </p:sp>
      <p:sp>
        <p:nvSpPr>
          <p:cNvPr id="8" name="algo-field">
            <a:extLst xmlns:a="http://schemas.openxmlformats.org/drawingml/2006/main">
              <a:ext uri="{FF2B5EF4-FFF2-40B4-BE49-F238E27FC236}">
                <a16:creationId xmlns:a16="http://schemas.microsoft.com/office/drawing/2014/main" id="{121C88DB-1DBC-4F2D-8250-DD383ED9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图像、视频</a:t>
            </a:r>
          </a:p>
        </p:txBody>
      </p:sp>
      <p:sp>
        <p:nvSpPr>
          <p:cNvPr id="9" name="algo-use">
            <a:extLst xmlns:a="http://schemas.openxmlformats.org/drawingml/2006/main">
              <a:ext uri="{FF2B5EF4-FFF2-40B4-BE49-F238E27FC236}">
                <a16:creationId xmlns:a16="http://schemas.microsoft.com/office/drawing/2014/main" id="{FB7F092E-BB1C-42AA-AA9C-6F325F3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图像分类、目标检测、人脸识别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3289B16-13AF-411D-BE6D-EDEAC41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lgo-name">
            <a:extLst xmlns:a="http://schemas.openxmlformats.org/drawingml/2006/main">
              <a:ext uri="{FF2B5EF4-FFF2-40B4-BE49-F238E27FC236}">
                <a16:creationId xmlns:a16="http://schemas.microsoft.com/office/drawing/2014/main" id="{379C6013-E991-4002-9DC2-42C885E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RNN / LSTM</a:t>
            </a:r>
          </a:p>
        </p:txBody>
      </p:sp>
      <p:sp>
        <p:nvSpPr>
          <p:cNvPr id="12" name="algo-field">
            <a:extLst xmlns:a="http://schemas.openxmlformats.org/drawingml/2006/main">
              <a:ext uri="{FF2B5EF4-FFF2-40B4-BE49-F238E27FC236}">
                <a16:creationId xmlns:a16="http://schemas.microsoft.com/office/drawing/2014/main" id="{B17AEA49-5B9A-4FB9-8BF8-0CEF9AF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序列、时序数据</a:t>
            </a:r>
          </a:p>
        </p:txBody>
      </p:sp>
      <p:sp>
        <p:nvSpPr>
          <p:cNvPr id="13" name="algo-use">
            <a:extLst xmlns:a="http://schemas.openxmlformats.org/drawingml/2006/main">
              <a:ext uri="{FF2B5EF4-FFF2-40B4-BE49-F238E27FC236}">
                <a16:creationId xmlns:a16="http://schemas.microsoft.com/office/drawing/2014/main" id="{160C106A-351F-432D-8C6F-FE8C41A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语音识别、时间序列、早期翻译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7A432725-4922-48C5-AF83-98A316C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lgo-name">
            <a:extLst xmlns:a="http://schemas.openxmlformats.org/drawingml/2006/main">
              <a:ext uri="{FF2B5EF4-FFF2-40B4-BE49-F238E27FC236}">
                <a16:creationId xmlns:a16="http://schemas.microsoft.com/office/drawing/2014/main" id="{85F017B8-E64C-4FFB-8F18-5EC525D3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16" name="algo-field">
            <a:extLst xmlns:a="http://schemas.openxmlformats.org/drawingml/2006/main">
              <a:ext uri="{FF2B5EF4-FFF2-40B4-BE49-F238E27FC236}">
                <a16:creationId xmlns:a16="http://schemas.microsoft.com/office/drawing/2014/main" id="{E7A3F674-02DA-4966-95E1-9179DEBB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76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文本等序列数据</a:t>
            </a:r>
          </a:p>
        </p:txBody>
      </p:sp>
      <p:sp>
        <p:nvSpPr>
          <p:cNvPr id="17" name="algo-use">
            <a:extLst xmlns:a="http://schemas.openxmlformats.org/drawingml/2006/main">
              <a:ext uri="{FF2B5EF4-FFF2-40B4-BE49-F238E27FC236}">
                <a16:creationId xmlns:a16="http://schemas.microsoft.com/office/drawing/2014/main" id="{E1A0C3AD-3AA4-4868-827A-44B5A59D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GPT、BERT 等大模型的基础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8D1B1DBA-3897-47A9-B176-D81E465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lgo-name">
            <a:extLst xmlns:a="http://schemas.openxmlformats.org/drawingml/2006/main">
              <a:ext uri="{FF2B5EF4-FFF2-40B4-BE49-F238E27FC236}">
                <a16:creationId xmlns:a16="http://schemas.microsoft.com/office/drawing/2014/main" id="{2B6444DA-E6D3-4D1C-A898-8EF9014E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GAN 生成对抗网络</a:t>
            </a:r>
          </a:p>
        </p:txBody>
      </p:sp>
      <p:sp>
        <p:nvSpPr>
          <p:cNvPr id="20" name="algo-field">
            <a:extLst xmlns:a="http://schemas.openxmlformats.org/drawingml/2006/main">
              <a:ext uri="{FF2B5EF4-FFF2-40B4-BE49-F238E27FC236}">
                <a16:creationId xmlns:a16="http://schemas.microsoft.com/office/drawing/2014/main" id="{BF941DB8-0456-4C9D-BD4B-891ABC5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图像生成</a:t>
            </a:r>
          </a:p>
        </p:txBody>
      </p:sp>
      <p:sp>
        <p:nvSpPr>
          <p:cNvPr id="21" name="algo-use">
            <a:extLst xmlns:a="http://schemas.openxmlformats.org/drawingml/2006/main">
              <a:ext uri="{FF2B5EF4-FFF2-40B4-BE49-F238E27FC236}">
                <a16:creationId xmlns:a16="http://schemas.microsoft.com/office/drawing/2014/main" id="{1B47A608-18F6-4755-AC83-DFB541F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生成逼真图像、图像编辑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0D563487-07B3-4D6F-93F4-3322DAF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lgo-name">
            <a:extLst xmlns:a="http://schemas.openxmlformats.org/drawingml/2006/main">
              <a:ext uri="{FF2B5EF4-FFF2-40B4-BE49-F238E27FC236}">
                <a16:creationId xmlns:a16="http://schemas.microsoft.com/office/drawing/2014/main" id="{D7BF3A07-29AD-445A-BE61-5B223D3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扩散模型</a:t>
            </a:r>
          </a:p>
        </p:txBody>
      </p:sp>
      <p:sp>
        <p:nvSpPr>
          <p:cNvPr id="24" name="algo-field">
            <a:extLst xmlns:a="http://schemas.openxmlformats.org/drawingml/2006/main">
              <a:ext uri="{FF2B5EF4-FFF2-40B4-BE49-F238E27FC236}">
                <a16:creationId xmlns:a16="http://schemas.microsoft.com/office/drawing/2014/main" id="{5269FD6E-D8DA-47CB-99B5-6744D6A9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24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图像生成</a:t>
            </a:r>
          </a:p>
        </p:txBody>
      </p:sp>
      <p:sp>
        <p:nvSpPr>
          <p:cNvPr id="25" name="algo-use">
            <a:extLst xmlns:a="http://schemas.openxmlformats.org/drawingml/2006/main">
              <a:ext uri="{FF2B5EF4-FFF2-40B4-BE49-F238E27FC236}">
                <a16:creationId xmlns:a16="http://schemas.microsoft.com/office/drawing/2014/main" id="{5AA0B894-BA24-4501-BB71-040ADB70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244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Stable Diffusion、Midjourney</a:t>
            </a:r>
          </a:p>
        </p:txBody>
      </p:sp>
      <p:sp>
        <p:nvSpPr>
          <p:cNvPr id="26" name="algo-note">
            <a:extLst xmlns:a="http://schemas.openxmlformats.org/drawingml/2006/main">
              <a:ext uri="{FF2B5EF4-FFF2-40B4-BE49-F238E27FC236}">
                <a16:creationId xmlns:a16="http://schemas.microsoft.com/office/drawing/2014/main" id="{30BBA542-7451-40F9-BAE6-0B60724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此外还有搜索算法、专家系统、贝叶斯网络、进化算法等经典方法。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88A5DEC-4591-4EA3-8AF8-C0958A1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2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91AC5B7-745F-4900-A2C9-A6FD1A23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32590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3210898-0600-49AD-9241-0EF44878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AI 的应用场景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E16F52-5084-4766-AEA5-89181F16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已经进入几乎所有行业</a:t>
            </a:r>
          </a:p>
        </p:txBody>
      </p:sp>
      <p:sp>
        <p:nvSpPr>
          <p:cNvPr id="3" name="app-title">
            <a:extLst xmlns:a="http://schemas.openxmlformats.org/drawingml/2006/main">
              <a:ext uri="{FF2B5EF4-FFF2-40B4-BE49-F238E27FC236}">
                <a16:creationId xmlns:a16="http://schemas.microsoft.com/office/drawing/2014/main" id="{918E18DD-6CFA-4FF0-B3C2-19A3A42B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计算机视觉</a:t>
            </a:r>
          </a:p>
        </p:txBody>
      </p:sp>
      <p:sp>
        <p:nvSpPr>
          <p:cNvPr id="4" name="app-desc">
            <a:extLst xmlns:a="http://schemas.openxmlformats.org/drawingml/2006/main">
              <a:ext uri="{FF2B5EF4-FFF2-40B4-BE49-F238E27FC236}">
                <a16:creationId xmlns:a16="http://schemas.microsoft.com/office/drawing/2014/main" id="{662B9FE3-8413-48B0-A168-9177983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人脸识别、医疗影像、自动驾驶、工业质检</a:t>
            </a:r>
          </a:p>
        </p:txBody>
      </p:sp>
      <p:sp>
        <p:nvSpPr>
          <p:cNvPr id="5" name="app-title">
            <a:extLst xmlns:a="http://schemas.openxmlformats.org/drawingml/2006/main">
              <a:ext uri="{FF2B5EF4-FFF2-40B4-BE49-F238E27FC236}">
                <a16:creationId xmlns:a16="http://schemas.microsoft.com/office/drawing/2014/main" id="{9C8DFB42-0F5C-47A5-94FA-6CB393D8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自然语言处理</a:t>
            </a:r>
          </a:p>
        </p:txBody>
      </p:sp>
      <p:sp>
        <p:nvSpPr>
          <p:cNvPr id="6" name="app-desc">
            <a:extLst xmlns:a="http://schemas.openxmlformats.org/drawingml/2006/main">
              <a:ext uri="{FF2B5EF4-FFF2-40B4-BE49-F238E27FC236}">
                <a16:creationId xmlns:a16="http://schemas.microsoft.com/office/drawing/2014/main" id="{0CCD6E57-1146-463B-913A-F211738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聊天机器人、机器翻译、智能客服、内容生成</a:t>
            </a:r>
          </a:p>
        </p:txBody>
      </p:sp>
      <p:sp>
        <p:nvSpPr>
          <p:cNvPr id="7" name="app-title">
            <a:extLst xmlns:a="http://schemas.openxmlformats.org/drawingml/2006/main">
              <a:ext uri="{FF2B5EF4-FFF2-40B4-BE49-F238E27FC236}">
                <a16:creationId xmlns:a16="http://schemas.microsoft.com/office/drawing/2014/main" id="{86A21A0E-832B-416A-B94F-7BBA4C89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语音技术</a:t>
            </a:r>
          </a:p>
        </p:txBody>
      </p:sp>
      <p:sp>
        <p:nvSpPr>
          <p:cNvPr id="8" name="app-desc">
            <a:extLst xmlns:a="http://schemas.openxmlformats.org/drawingml/2006/main">
              <a:ext uri="{FF2B5EF4-FFF2-40B4-BE49-F238E27FC236}">
                <a16:creationId xmlns:a16="http://schemas.microsoft.com/office/drawing/2014/main" id="{6131D4B3-F56B-4AF8-8958-F729C69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语音识别、语音合成、会议转写</a:t>
            </a:r>
          </a:p>
        </p:txBody>
      </p:sp>
      <p:sp>
        <p:nvSpPr>
          <p:cNvPr id="9" name="app-title">
            <a:extLst xmlns:a="http://schemas.openxmlformats.org/drawingml/2006/main">
              <a:ext uri="{FF2B5EF4-FFF2-40B4-BE49-F238E27FC236}">
                <a16:creationId xmlns:a16="http://schemas.microsoft.com/office/drawing/2014/main" id="{6330ED66-CC78-460C-8664-3B6AAA41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推荐系统</a:t>
            </a:r>
          </a:p>
        </p:txBody>
      </p:sp>
      <p:sp>
        <p:nvSpPr>
          <p:cNvPr id="10" name="app-desc">
            <a:extLst xmlns:a="http://schemas.openxmlformats.org/drawingml/2006/main">
              <a:ext uri="{FF2B5EF4-FFF2-40B4-BE49-F238E27FC236}">
                <a16:creationId xmlns:a16="http://schemas.microsoft.com/office/drawing/2014/main" id="{0E9FC45E-C208-407E-9635-EE3A834B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电商、短视频、新闻、音乐的个性化推荐</a:t>
            </a:r>
          </a:p>
        </p:txBody>
      </p:sp>
      <p:sp>
        <p:nvSpPr>
          <p:cNvPr id="11" name="app-title">
            <a:extLst xmlns:a="http://schemas.openxmlformats.org/drawingml/2006/main">
              <a:ext uri="{FF2B5EF4-FFF2-40B4-BE49-F238E27FC236}">
                <a16:creationId xmlns:a16="http://schemas.microsoft.com/office/drawing/2014/main" id="{F9CC6299-F80D-4ADD-BCD5-5ADE770B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金融与医疗</a:t>
            </a:r>
          </a:p>
        </p:txBody>
      </p:sp>
      <p:sp>
        <p:nvSpPr>
          <p:cNvPr id="12" name="app-desc">
            <a:extLst xmlns:a="http://schemas.openxmlformats.org/drawingml/2006/main">
              <a:ext uri="{FF2B5EF4-FFF2-40B4-BE49-F238E27FC236}">
                <a16:creationId xmlns:a16="http://schemas.microsoft.com/office/drawing/2014/main" id="{4D80475A-A0C5-44E7-8D45-6BDC61B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风控反欺诈、信用评分、辅助诊断、药物研发</a:t>
            </a:r>
          </a:p>
        </p:txBody>
      </p:sp>
      <p:sp>
        <p:nvSpPr>
          <p:cNvPr id="13" name="app-title">
            <a:extLst xmlns:a="http://schemas.openxmlformats.org/drawingml/2006/main">
              <a:ext uri="{FF2B5EF4-FFF2-40B4-BE49-F238E27FC236}">
                <a16:creationId xmlns:a16="http://schemas.microsoft.com/office/drawing/2014/main" id="{A9E87FD1-0BB4-42FE-B94F-58998768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制造与交通</a:t>
            </a:r>
          </a:p>
        </p:txBody>
      </p:sp>
      <p:sp>
        <p:nvSpPr>
          <p:cNvPr id="14" name="app-desc">
            <a:extLst xmlns:a="http://schemas.openxmlformats.org/drawingml/2006/main">
              <a:ext uri="{FF2B5EF4-FFF2-40B4-BE49-F238E27FC236}">
                <a16:creationId xmlns:a16="http://schemas.microsoft.com/office/drawing/2014/main" id="{E53486EE-4DAD-4066-BA22-4FEA155C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预测性维护、质检、自动驾驶、智能调度</a:t>
            </a:r>
          </a:p>
        </p:txBody>
      </p:sp>
      <p:sp>
        <p:nvSpPr>
          <p:cNvPr id="15" name="gen-panel">
            <a:extLst xmlns:a="http://schemas.openxmlformats.org/drawingml/2006/main">
              <a:ext uri="{FF2B5EF4-FFF2-40B4-BE49-F238E27FC236}">
                <a16:creationId xmlns:a16="http://schemas.microsoft.com/office/drawing/2014/main" id="{D1CAAF61-F456-4353-BFDB-81F315CB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en-title">
            <a:extLst xmlns:a="http://schemas.openxmlformats.org/drawingml/2006/main">
              <a:ext uri="{FF2B5EF4-FFF2-40B4-BE49-F238E27FC236}">
                <a16:creationId xmlns:a16="http://schemas.microsoft.com/office/drawing/2014/main" id="{EE82A7AB-7A10-4863-881D-3F36AB7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生成式 AI 正在加速进入日常生活</a:t>
            </a:r>
          </a:p>
        </p:txBody>
      </p:sp>
      <p:sp>
        <p:nvSpPr>
          <p:cNvPr id="17" name="gen-sub">
            <a:extLst xmlns:a="http://schemas.openxmlformats.org/drawingml/2006/main">
              <a:ext uri="{FF2B5EF4-FFF2-40B4-BE49-F238E27FC236}">
                <a16:creationId xmlns:a16="http://schemas.microsoft.com/office/drawing/2014/main" id="{460C0414-E50A-4664-A024-7E5801C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021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文本生成（ChatGPT）· 图像生成（Midjourney）· 视频生成 · 代码助手（Copilot）——它们都属于生成式 AI。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C2A9BE-D28C-48A8-AA6C-6C74DF3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C11C4B2-DD40-4A3F-943F-24B88090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22234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3F97D07-83EE-4ACF-B2A6-BF73045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0666A6-CD66-4A15-9E8F-F17A7ED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一句话记住 AI</a:t>
            </a:r>
          </a:p>
        </p:txBody>
      </p:sp>
      <p:sp>
        <p:nvSpPr>
          <p:cNvPr id="3" name="sum-panel">
            <a:extLst xmlns:a="http://schemas.openxmlformats.org/drawingml/2006/main">
              <a:ext uri="{FF2B5EF4-FFF2-40B4-BE49-F238E27FC236}">
                <a16:creationId xmlns:a16="http://schemas.microsoft.com/office/drawing/2014/main" id="{7FD09691-2BCE-41B4-8EEC-C5D442D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takeaway">
            <a:extLst xmlns:a="http://schemas.openxmlformats.org/drawingml/2006/main">
              <a:ext uri="{FF2B5EF4-FFF2-40B4-BE49-F238E27FC236}">
                <a16:creationId xmlns:a16="http://schemas.microsoft.com/office/drawing/2014/main" id="{CB2581BA-7C53-4B82-9676-7AA25E8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1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是让机器具备类人智能的技术；它经历了符号主义、专家系统和深度学习三次浪潮；核心方法包括机器学习与深度学习；如今已广泛应用到视觉、语言、语音、医疗、金融、制造、交通等领域。</a:t>
            </a:r>
          </a:p>
        </p:txBody>
      </p:sp>
      <p:sp>
        <p:nvSpPr>
          <p:cNvPr id="5" name="sum-next-label">
            <a:extLst xmlns:a="http://schemas.openxmlformats.org/drawingml/2006/main">
              <a:ext uri="{FF2B5EF4-FFF2-40B4-BE49-F238E27FC236}">
                <a16:creationId xmlns:a16="http://schemas.microsoft.com/office/drawing/2014/main" id="{C3B89FAF-4BD8-4397-85BB-2C14CCF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延伸学习</a:t>
            </a:r>
          </a:p>
        </p:txBody>
      </p:sp>
      <p:sp>
        <p:nvSpPr>
          <p:cNvPr id="6" name="sum-next-num">
            <a:extLst xmlns:a="http://schemas.openxmlformats.org/drawingml/2006/main">
              <a:ext uri="{FF2B5EF4-FFF2-40B4-BE49-F238E27FC236}">
                <a16:creationId xmlns:a16="http://schemas.microsoft.com/office/drawing/2014/main" id="{343A0CEF-3C28-41A1-A2D5-1887123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um-next-text">
            <a:extLst xmlns:a="http://schemas.openxmlformats.org/drawingml/2006/main">
              <a:ext uri="{FF2B5EF4-FFF2-40B4-BE49-F238E27FC236}">
                <a16:creationId xmlns:a16="http://schemas.microsoft.com/office/drawing/2014/main" id="{636F2FA5-B97B-48E3-A654-C147902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深入算法原理：监督学习、无监督学习、强化学习</a:t>
            </a:r>
          </a:p>
        </p:txBody>
      </p:sp>
      <p:sp>
        <p:nvSpPr>
          <p:cNvPr id="8" name="sum-next-num">
            <a:extLst xmlns:a="http://schemas.openxmlformats.org/drawingml/2006/main">
              <a:ext uri="{FF2B5EF4-FFF2-40B4-BE49-F238E27FC236}">
                <a16:creationId xmlns:a16="http://schemas.microsoft.com/office/drawing/2014/main" id="{F5EE21C7-2ADA-4911-81AE-73DE136D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um-next-text">
            <a:extLst xmlns:a="http://schemas.openxmlformats.org/drawingml/2006/main">
              <a:ext uri="{FF2B5EF4-FFF2-40B4-BE49-F238E27FC236}">
                <a16:creationId xmlns:a16="http://schemas.microsoft.com/office/drawing/2014/main" id="{E603BD87-DCA3-4A69-AA6B-DF512754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学习动手实践：Python + PyTorch / scikit-learn</a:t>
            </a:r>
          </a:p>
        </p:txBody>
      </p:sp>
      <p:sp>
        <p:nvSpPr>
          <p:cNvPr id="10" name="sum-next-num">
            <a:extLst xmlns:a="http://schemas.openxmlformats.org/drawingml/2006/main">
              <a:ext uri="{FF2B5EF4-FFF2-40B4-BE49-F238E27FC236}">
                <a16:creationId xmlns:a16="http://schemas.microsoft.com/office/drawing/2014/main" id="{845F098B-AB27-4E88-883A-D0A26BB9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um-next-text">
            <a:extLst xmlns:a="http://schemas.openxmlformats.org/drawingml/2006/main">
              <a:ext uri="{FF2B5EF4-FFF2-40B4-BE49-F238E27FC236}">
                <a16:creationId xmlns:a16="http://schemas.microsoft.com/office/drawing/2014/main" id="{B14C072E-08C8-4B00-BDF4-6B15635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做一个小项目：图像分类或聊天机器人</a:t>
            </a:r>
          </a:p>
        </p:txBody>
      </p:sp>
      <p:sp>
        <p:nvSpPr>
          <p:cNvPr id="12" name="sum-next-num">
            <a:extLst xmlns:a="http://schemas.openxmlformats.org/drawingml/2006/main">
              <a:ext uri="{FF2B5EF4-FFF2-40B4-BE49-F238E27FC236}">
                <a16:creationId xmlns:a16="http://schemas.microsoft.com/office/drawing/2014/main" id="{D3604BA1-9242-4832-A039-F4385609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um-next-text">
            <a:extLst xmlns:a="http://schemas.openxmlformats.org/drawingml/2006/main">
              <a:ext uri="{FF2B5EF4-FFF2-40B4-BE49-F238E27FC236}">
                <a16:creationId xmlns:a16="http://schemas.microsoft.com/office/drawing/2014/main" id="{129E0F8D-41C9-44F6-8B33-0EEC0B2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关注前沿进展：大模型与生成式 AI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B58322-4B08-4171-B8E4-BFFAE90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人工智能入门 · AI 基础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774C26-DAD7-4154-AA8A-241795F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3284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2026-08-18T03:00:41.7340000Z</dcterms:created>
  <dcterms:modified xsi:type="dcterms:W3CDTF">2026-08-18T03:00:41.7340000Z</dcterms:modified>
</coreProperties>
</file>