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4937586bf4733" /><Relationship Type="http://schemas.openxmlformats.org/officeDocument/2006/relationships/extended-properties" Target="/docProps/app.xml" Id="R82c138f4aa554cad" /><Relationship Type="http://schemas.openxmlformats.org/officeDocument/2006/relationships/officeDocument" Target="/ppt/presentation.xml" Id="R7a31d04ee3904a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62c6c1cc044ca"/>
  </p:sldMasterIdLst>
  <p:notesMasterIdLst>
    <p:notesMasterId xmlns:r="http://schemas.openxmlformats.org/officeDocument/2006/relationships" r:id="R544c98dea6fa4e76"/>
  </p:notesMasterIdLst>
  <p:sldIdLst>
    <p:sldId xmlns:r="http://schemas.openxmlformats.org/officeDocument/2006/relationships" id="256" r:id="R9455cce6c9e54431"/>
    <p:sldId xmlns:r="http://schemas.openxmlformats.org/officeDocument/2006/relationships" id="257" r:id="Rd1f1e8fdab79427b"/>
    <p:sldId xmlns:r="http://schemas.openxmlformats.org/officeDocument/2006/relationships" id="258" r:id="Rf137c399fa3d4e8c"/>
    <p:sldId xmlns:r="http://schemas.openxmlformats.org/officeDocument/2006/relationships" id="259" r:id="R0d1cb8861fe84fc9"/>
    <p:sldId xmlns:r="http://schemas.openxmlformats.org/officeDocument/2006/relationships" id="260" r:id="Rca4823005fe44b4b"/>
    <p:sldId xmlns:r="http://schemas.openxmlformats.org/officeDocument/2006/relationships" id="261" r:id="R2154cda8bbde4e0a"/>
    <p:sldId xmlns:r="http://schemas.openxmlformats.org/officeDocument/2006/relationships" id="262" r:id="R0e84c2fb6e8d4405"/>
    <p:sldId xmlns:r="http://schemas.openxmlformats.org/officeDocument/2006/relationships" id="263" r:id="R14863a04f7914259"/>
    <p:sldId xmlns:r="http://schemas.openxmlformats.org/officeDocument/2006/relationships" id="264" r:id="Rcacb8b4154be41db"/>
    <p:sldId xmlns:r="http://schemas.openxmlformats.org/officeDocument/2006/relationships" id="265" r:id="R5d5422131c78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63d32fae0747b0" /><Relationship Type="http://schemas.openxmlformats.org/officeDocument/2006/relationships/slideMaster" Target="/ppt/slideMasters/slideMaster1.xml" Id="Rbb162c6c1cc044ca" /><Relationship Type="http://schemas.openxmlformats.org/officeDocument/2006/relationships/notesMaster" Target="/ppt/notesMasters/notesMaster1.xml" Id="R544c98dea6fa4e76" /><Relationship Type="http://schemas.openxmlformats.org/officeDocument/2006/relationships/presProps" Target="/ppt/presProps.xml" Id="R22bbdc2d9af84db5" /><Relationship Type="http://schemas.openxmlformats.org/officeDocument/2006/relationships/tableStyles" Target="/ppt/tableStyles.xml" Id="R2c3a31b17b854649" /><Relationship Type="http://schemas.openxmlformats.org/officeDocument/2006/relationships/slide" Target="/ppt/slides/slide1.xml" Id="R9455cce6c9e54431" /><Relationship Type="http://schemas.openxmlformats.org/officeDocument/2006/relationships/slide" Target="/ppt/slides/slide2.xml" Id="Rd1f1e8fdab79427b" /><Relationship Type="http://schemas.openxmlformats.org/officeDocument/2006/relationships/slide" Target="/ppt/slides/slide3.xml" Id="Rf137c399fa3d4e8c" /><Relationship Type="http://schemas.openxmlformats.org/officeDocument/2006/relationships/slide" Target="/ppt/slides/slide4.xml" Id="R0d1cb8861fe84fc9" /><Relationship Type="http://schemas.openxmlformats.org/officeDocument/2006/relationships/slide" Target="/ppt/slides/slide5.xml" Id="Rca4823005fe44b4b" /><Relationship Type="http://schemas.openxmlformats.org/officeDocument/2006/relationships/slide" Target="/ppt/slides/slide6.xml" Id="R2154cda8bbde4e0a" /><Relationship Type="http://schemas.openxmlformats.org/officeDocument/2006/relationships/slide" Target="/ppt/slides/slide7.xml" Id="R0e84c2fb6e8d4405" /><Relationship Type="http://schemas.openxmlformats.org/officeDocument/2006/relationships/slide" Target="/ppt/slides/slide8.xml" Id="R14863a04f7914259" /><Relationship Type="http://schemas.openxmlformats.org/officeDocument/2006/relationships/slide" Target="/ppt/slides/slide9.xml" Id="Rcacb8b4154be41db" /><Relationship Type="http://schemas.openxmlformats.org/officeDocument/2006/relationships/slide" Target="/ppt/slides/slide10.xml" Id="R5d5422131c78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dd7bec15f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c46e5d10c42fd" /><Relationship Type="http://schemas.openxmlformats.org/officeDocument/2006/relationships/notesMaster" Target="/ppt/notesMasters/notesMaster1.xml" Id="R14d76fa97936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85e5f626d4792" /><Relationship Type="http://schemas.openxmlformats.org/officeDocument/2006/relationships/notesMaster" Target="/ppt/notesMasters/notesMaster1.xml" Id="R5f6346e8f50a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df67cf5e8a46ce" /><Relationship Type="http://schemas.openxmlformats.org/officeDocument/2006/relationships/notesMaster" Target="/ppt/notesMasters/notesMaster1.xml" Id="R23eee469c9c6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7e5e70e754e50" /><Relationship Type="http://schemas.openxmlformats.org/officeDocument/2006/relationships/notesMaster" Target="/ppt/notesMasters/notesMaster1.xml" Id="Rb3d2b5f0eb3a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2720fcea447ec" /><Relationship Type="http://schemas.openxmlformats.org/officeDocument/2006/relationships/notesMaster" Target="/ppt/notesMasters/notesMaster1.xml" Id="R7b811d3f2aa543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d7f815b504edc" /><Relationship Type="http://schemas.openxmlformats.org/officeDocument/2006/relationships/notesMaster" Target="/ppt/notesMasters/notesMaster1.xml" Id="R2c67a946ac5f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a5d00a2794dbf" /><Relationship Type="http://schemas.openxmlformats.org/officeDocument/2006/relationships/notesMaster" Target="/ppt/notesMasters/notesMaster1.xml" Id="R603d4e2dcbe64d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71e209fde49dd" /><Relationship Type="http://schemas.openxmlformats.org/officeDocument/2006/relationships/notesMaster" Target="/ppt/notesMasters/notesMaster1.xml" Id="R36ba110d4e4c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d098e038ef4efe" /><Relationship Type="http://schemas.openxmlformats.org/officeDocument/2006/relationships/notesMaster" Target="/ppt/notesMasters/notesMaster1.xml" Id="R64d9e0abb3bf4d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d678f51ae4bce" /><Relationship Type="http://schemas.openxmlformats.org/officeDocument/2006/relationships/notesMaster" Target="/ppt/notesMasters/notesMaster1.xml" Id="R57352f0de419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9cf09d1fc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0fbdf4de9498b" /><Relationship Type="http://schemas.openxmlformats.org/officeDocument/2006/relationships/slideLayout" Target="/ppt/slideLayouts/slideLayout1.xml" Id="R8c89d699c0b7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9d699c0b7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6e8e23caa4e38" /><Relationship Type="http://schemas.openxmlformats.org/officeDocument/2006/relationships/notesSlide" Target="/ppt/notesSlides/notesSlide1.xml" Id="R5846ded30146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6a1957d8942d2" /><Relationship Type="http://schemas.openxmlformats.org/officeDocument/2006/relationships/notesSlide" Target="/ppt/notesSlides/notesSlide2.xml" Id="R3725125ec41d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fdf20da8a488d" /><Relationship Type="http://schemas.openxmlformats.org/officeDocument/2006/relationships/notesSlide" Target="/ppt/notesSlides/notesSlide3.xml" Id="R211ed06706204e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d047461a4cd4" /><Relationship Type="http://schemas.openxmlformats.org/officeDocument/2006/relationships/notesSlide" Target="/ppt/notesSlides/notesSlide4.xml" Id="Rbf2b518bbd3942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e1e352c1444fe" /><Relationship Type="http://schemas.openxmlformats.org/officeDocument/2006/relationships/notesSlide" Target="/ppt/notesSlides/notesSlide5.xml" Id="R106f8d5fd671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b302585b946b9" /><Relationship Type="http://schemas.openxmlformats.org/officeDocument/2006/relationships/notesSlide" Target="/ppt/notesSlides/notesSlide6.xml" Id="Ra1326ef73161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a60f2daf4ab5" /><Relationship Type="http://schemas.openxmlformats.org/officeDocument/2006/relationships/notesSlide" Target="/ppt/notesSlides/notesSlide7.xml" Id="Re7de9bfc259d4b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ec9db029b4d85" /><Relationship Type="http://schemas.openxmlformats.org/officeDocument/2006/relationships/notesSlide" Target="/ppt/notesSlides/notesSlide8.xml" Id="R96512c7b7f6c4c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31009dbda4ffe" /><Relationship Type="http://schemas.openxmlformats.org/officeDocument/2006/relationships/notesSlide" Target="/ppt/notesSlides/notesSlide9.xml" Id="Rc6633836329c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ad2d781574d64" /><Relationship Type="http://schemas.openxmlformats.org/officeDocument/2006/relationships/notesSlide" Target="/ppt/notesSlides/notesSlide10.xml" Id="R2b93fb177abb40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BDC8386-E81C-405B-BDCB-E1A230A2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Agent 基础 · 学习材料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432B75-EB4D-43FC-8C3C-4675B0A5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智能体入门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20EA3C-32FA-475D-A3DF-7CE67A2E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基本概念 · 与 LLM 的区别 · 核心功能 · 主流产品</a:t>
            </a:r>
          </a:p>
        </p:txBody>
      </p:sp>
      <p:sp>
        <p:nvSpPr>
          <p:cNvPr id="4" name="cover-note">
            <a:extLst xmlns:a="http://schemas.openxmlformats.org/drawingml/2006/main">
              <a:ext uri="{FF2B5EF4-FFF2-40B4-BE49-F238E27FC236}">
                <a16:creationId xmlns:a16="http://schemas.microsoft.com/office/drawing/2014/main" id="{5E37AF65-76B4-4C31-B236-5C768B4B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一份面向初学者的 AI Agent 知识概览</a:t>
            </a:r>
          </a:p>
        </p:txBody>
      </p:sp>
      <p:sp>
        <p:nvSpPr>
          <p:cNvPr id="5" name="cover-nest">
            <a:extLst xmlns:a="http://schemas.openxmlformats.org/drawingml/2006/main">
              <a:ext uri="{FF2B5EF4-FFF2-40B4-BE49-F238E27FC236}">
                <a16:creationId xmlns:a16="http://schemas.microsoft.com/office/drawing/2014/main" id="{8B91A920-3EA4-4796-9E4B-2109246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9428723A-8208-43DF-9E62-F18DF8F3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智能体 Agent</a:t>
            </a:r>
          </a:p>
        </p:txBody>
      </p:sp>
      <p:sp>
        <p:nvSpPr>
          <p:cNvPr id="7" name="cover-nest">
            <a:extLst xmlns:a="http://schemas.openxmlformats.org/drawingml/2006/main">
              <a:ext uri="{FF2B5EF4-FFF2-40B4-BE49-F238E27FC236}">
                <a16:creationId xmlns:a16="http://schemas.microsoft.com/office/drawing/2014/main" id="{8F101C43-F205-4157-B306-5ACBDC9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79934488-ADE0-428F-9928-B54C296E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大模型 LLM（大脑）</a:t>
            </a:r>
          </a:p>
        </p:txBody>
      </p:sp>
      <p:sp>
        <p:nvSpPr>
          <p:cNvPr id="9" name="cover-nest">
            <a:extLst xmlns:a="http://schemas.openxmlformats.org/drawingml/2006/main">
              <a:ext uri="{FF2B5EF4-FFF2-40B4-BE49-F238E27FC236}">
                <a16:creationId xmlns:a16="http://schemas.microsoft.com/office/drawing/2014/main" id="{626E3E3D-2E64-45C2-A658-43A9B18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CAD6D450-3EC9-42E1-AFC7-AE21A5C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 + 记忆</a:t>
            </a:r>
          </a:p>
        </p:txBody>
      </p:sp>
      <p:sp>
        <p:nvSpPr>
          <p:cNvPr id="11" name="cover-nest">
            <a:extLst xmlns:a="http://schemas.openxmlformats.org/drawingml/2006/main">
              <a:ext uri="{FF2B5EF4-FFF2-40B4-BE49-F238E27FC236}">
                <a16:creationId xmlns:a16="http://schemas.microsoft.com/office/drawing/2014/main" id="{08F8393C-3DF3-463E-B81D-D9F7412B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FB51E498-B5DB-44CC-9558-FF33F67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自主执行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C181ED-8230-4E99-81CF-E1F8471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F5002C-20F4-4CF3-96C1-785D84C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3213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3207DEE9-7E1D-4ED5-9A94-C74231E2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83ACFA-7E77-4AA6-AB5D-5E945C3F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这份材料会带你了解四件事</a:t>
            </a:r>
          </a:p>
        </p:txBody>
      </p:sp>
      <p:sp>
        <p:nvSpPr>
          <p:cNvPr id="3" name="agenda-num">
            <a:extLst xmlns:a="http://schemas.openxmlformats.org/drawingml/2006/main">
              <a:ext uri="{FF2B5EF4-FFF2-40B4-BE49-F238E27FC236}">
                <a16:creationId xmlns:a16="http://schemas.microsoft.com/office/drawing/2014/main" id="{CB34977A-5C02-4868-957C-5B5DAC7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8815398F-36AF-47D6-BCAB-205E5EE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什么是 Agent</a:t>
            </a:r>
          </a:p>
        </p:txBody>
      </p:sp>
      <p:sp>
        <p:nvSpPr>
          <p:cNvPr id="5" name="agenda-desc">
            <a:extLst xmlns:a="http://schemas.openxmlformats.org/drawingml/2006/main">
              <a:ext uri="{FF2B5EF4-FFF2-40B4-BE49-F238E27FC236}">
                <a16:creationId xmlns:a16="http://schemas.microsoft.com/office/drawing/2014/main" id="{7F27CD74-82FB-457F-87BD-EFAB46C4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定义、类比，以及 Agent 的基本构成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BEA740A-C377-4AD9-BED8-FE7AB7A3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num">
            <a:extLst xmlns:a="http://schemas.openxmlformats.org/drawingml/2006/main">
              <a:ext uri="{FF2B5EF4-FFF2-40B4-BE49-F238E27FC236}">
                <a16:creationId xmlns:a16="http://schemas.microsoft.com/office/drawing/2014/main" id="{6310D515-3FA3-49F9-86E9-32907EAE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7C0AF4D9-A185-4474-9816-CB9B4C3B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与 LLM 的区别</a:t>
            </a:r>
          </a:p>
        </p:txBody>
      </p:sp>
      <p:sp>
        <p:nvSpPr>
          <p:cNvPr id="9" name="agenda-desc">
            <a:extLst xmlns:a="http://schemas.openxmlformats.org/drawingml/2006/main">
              <a:ext uri="{FF2B5EF4-FFF2-40B4-BE49-F238E27FC236}">
                <a16:creationId xmlns:a16="http://schemas.microsoft.com/office/drawing/2014/main" id="{3DAA8C8D-BBEB-4FA9-BE54-BA6C9F54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组件与系统、被动问答与主动执行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4BB692F-53EA-4FFE-9346-0C6A3747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">
            <a:extLst xmlns:a="http://schemas.openxmlformats.org/drawingml/2006/main">
              <a:ext uri="{FF2B5EF4-FFF2-40B4-BE49-F238E27FC236}">
                <a16:creationId xmlns:a16="http://schemas.microsoft.com/office/drawing/2014/main" id="{10B7C1F0-B5F1-41E0-8DB1-B2850F88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2167C172-69AE-4C24-86AC-4F6A4610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的基本功能</a:t>
            </a:r>
          </a:p>
        </p:txBody>
      </p:sp>
      <p:sp>
        <p:nvSpPr>
          <p:cNvPr id="13" name="agenda-desc">
            <a:extLst xmlns:a="http://schemas.openxmlformats.org/drawingml/2006/main">
              <a:ext uri="{FF2B5EF4-FFF2-40B4-BE49-F238E27FC236}">
                <a16:creationId xmlns:a16="http://schemas.microsoft.com/office/drawing/2014/main" id="{5616EC3E-D252-424D-AA0C-742D9532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规划、工具、记忆、感知与反思迭代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5DE3C30-3E1C-4DE0-A374-638670D3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">
            <a:extLst xmlns:a="http://schemas.openxmlformats.org/drawingml/2006/main">
              <a:ext uri="{FF2B5EF4-FFF2-40B4-BE49-F238E27FC236}">
                <a16:creationId xmlns:a16="http://schemas.microsoft.com/office/drawing/2014/main" id="{3662D17D-7800-475D-8DDC-BAE65C50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815E574F-A02F-4087-A154-7D8962E4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主流 Agent 产品</a:t>
            </a:r>
          </a:p>
        </p:txBody>
      </p:sp>
      <p:sp>
        <p:nvSpPr>
          <p:cNvPr id="17" name="agenda-desc">
            <a:extLst xmlns:a="http://schemas.openxmlformats.org/drawingml/2006/main">
              <a:ext uri="{FF2B5EF4-FFF2-40B4-BE49-F238E27FC236}">
                <a16:creationId xmlns:a16="http://schemas.microsoft.com/office/drawing/2014/main" id="{B017448E-AFA0-40C8-A257-D3DD6DDE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编程类、通用自主类，以及国内平台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8EBCEA-4A2F-4EBA-9FE3-2336F71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CD988AE-AB81-42B3-8F65-5B2D002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0527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B34FC43-78F1-4849-80AB-8CB7EDEC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Agent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AE5462-8124-44FC-96CD-3ECF823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是能自己把事做完的 AI 系统</a:t>
            </a:r>
          </a:p>
        </p:txBody>
      </p:sp>
      <p:sp>
        <p:nvSpPr>
          <p:cNvPr id="3" name="def-panel">
            <a:extLst xmlns:a="http://schemas.openxmlformats.org/drawingml/2006/main">
              <a:ext uri="{FF2B5EF4-FFF2-40B4-BE49-F238E27FC236}">
                <a16:creationId xmlns:a16="http://schemas.microsoft.com/office/drawing/2014/main" id="{3DC69795-4CCF-4D80-89CF-F75E26F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f-text">
            <a:extLst xmlns:a="http://schemas.openxmlformats.org/drawingml/2006/main">
              <a:ext uri="{FF2B5EF4-FFF2-40B4-BE49-F238E27FC236}">
                <a16:creationId xmlns:a16="http://schemas.microsoft.com/office/drawing/2014/main" id="{8B66B09B-F231-499D-B933-2566CBA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Agent（智能体）是一种能感知环境、自主决策、执行任务并达成目标的软件系统，像“数字员工”一样把事做完。</a:t>
            </a:r>
          </a:p>
        </p:txBody>
      </p:sp>
      <p:sp>
        <p:nvSpPr>
          <p:cNvPr id="5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C29452B6-9CD2-409A-81D4-40A8DF37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it-title">
            <a:extLst xmlns:a="http://schemas.openxmlformats.org/drawingml/2006/main">
              <a:ext uri="{FF2B5EF4-FFF2-40B4-BE49-F238E27FC236}">
                <a16:creationId xmlns:a16="http://schemas.microsoft.com/office/drawing/2014/main" id="{B5BC9EC2-174F-4057-9D33-CE872E0E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目标导向</a:t>
            </a:r>
          </a:p>
        </p:txBody>
      </p:sp>
      <p:sp>
        <p:nvSpPr>
          <p:cNvPr id="7" name="trait-desc">
            <a:extLst xmlns:a="http://schemas.openxmlformats.org/drawingml/2006/main">
              <a:ext uri="{FF2B5EF4-FFF2-40B4-BE49-F238E27FC236}">
                <a16:creationId xmlns:a16="http://schemas.microsoft.com/office/drawing/2014/main" id="{FBFDCCA4-151E-4525-AD82-A978742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围绕明确目标自主工作</a:t>
            </a:r>
          </a:p>
        </p:txBody>
      </p:sp>
      <p:sp>
        <p:nvSpPr>
          <p:cNvPr id="8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2D48AF79-1098-4CB5-816D-A84A2BE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it-title">
            <a:extLst xmlns:a="http://schemas.openxmlformats.org/drawingml/2006/main">
              <a:ext uri="{FF2B5EF4-FFF2-40B4-BE49-F238E27FC236}">
                <a16:creationId xmlns:a16="http://schemas.microsoft.com/office/drawing/2014/main" id="{E3686334-A17A-4801-B0B5-C935968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感知环境</a:t>
            </a:r>
          </a:p>
        </p:txBody>
      </p:sp>
      <p:sp>
        <p:nvSpPr>
          <p:cNvPr id="10" name="trait-desc">
            <a:extLst xmlns:a="http://schemas.openxmlformats.org/drawingml/2006/main">
              <a:ext uri="{FF2B5EF4-FFF2-40B4-BE49-F238E27FC236}">
                <a16:creationId xmlns:a16="http://schemas.microsoft.com/office/drawing/2014/main" id="{E5A16E27-E746-4ECA-94DD-05652A9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接收并理解外部信息与上下文</a:t>
            </a:r>
          </a:p>
        </p:txBody>
      </p:sp>
      <p:sp>
        <p:nvSpPr>
          <p:cNvPr id="11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0BD37F31-0E6C-46BD-A3F1-4C20FC5D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it-title">
            <a:extLst xmlns:a="http://schemas.openxmlformats.org/drawingml/2006/main">
              <a:ext uri="{FF2B5EF4-FFF2-40B4-BE49-F238E27FC236}">
                <a16:creationId xmlns:a16="http://schemas.microsoft.com/office/drawing/2014/main" id="{98A46F34-45A1-42E0-A163-69B9AA0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自主决策</a:t>
            </a:r>
          </a:p>
        </p:txBody>
      </p:sp>
      <p:sp>
        <p:nvSpPr>
          <p:cNvPr id="13" name="trait-desc">
            <a:extLst xmlns:a="http://schemas.openxmlformats.org/drawingml/2006/main">
              <a:ext uri="{FF2B5EF4-FFF2-40B4-BE49-F238E27FC236}">
                <a16:creationId xmlns:a16="http://schemas.microsoft.com/office/drawing/2014/main" id="{0F8D9920-7089-4496-A5A5-B215E3D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根据目标与环境决定下一步</a:t>
            </a:r>
          </a:p>
        </p:txBody>
      </p:sp>
      <p:sp>
        <p:nvSpPr>
          <p:cNvPr id="14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DB628D19-43D4-4725-BADA-8E703D92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it-title">
            <a:extLst xmlns:a="http://schemas.openxmlformats.org/drawingml/2006/main">
              <a:ext uri="{FF2B5EF4-FFF2-40B4-BE49-F238E27FC236}">
                <a16:creationId xmlns:a16="http://schemas.microsoft.com/office/drawing/2014/main" id="{83142B74-14F1-43CF-8DBE-C8879B9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</p:txBody>
      </p:sp>
      <p:sp>
        <p:nvSpPr>
          <p:cNvPr id="16" name="trait-desc">
            <a:extLst xmlns:a="http://schemas.openxmlformats.org/drawingml/2006/main">
              <a:ext uri="{FF2B5EF4-FFF2-40B4-BE49-F238E27FC236}">
                <a16:creationId xmlns:a16="http://schemas.microsoft.com/office/drawing/2014/main" id="{A683611A-66DB-42F6-AEE2-976FA2D3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调用工具、产生真实行动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3102ED-24FC-4557-8564-4458DE6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254CCF3-6AD2-4A82-93A1-2AC32FE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3930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9C9B665-1CBB-4EF5-B765-8411EE8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Agent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D31B85-C7B1-4175-BEFF-7991A972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 Agent 由五部分组成</a:t>
            </a:r>
          </a:p>
        </p:txBody>
      </p:sp>
      <p:sp>
        <p:nvSpPr>
          <p:cNvPr id="3" name="comp-square">
            <a:extLst xmlns:a="http://schemas.openxmlformats.org/drawingml/2006/main">
              <a:ext uri="{FF2B5EF4-FFF2-40B4-BE49-F238E27FC236}">
                <a16:creationId xmlns:a16="http://schemas.microsoft.com/office/drawing/2014/main" id="{31ADDE64-8C03-4711-AC15-7590011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p-title">
            <a:extLst xmlns:a="http://schemas.openxmlformats.org/drawingml/2006/main">
              <a:ext uri="{FF2B5EF4-FFF2-40B4-BE49-F238E27FC236}">
                <a16:creationId xmlns:a16="http://schemas.microsoft.com/office/drawing/2014/main" id="{74FF7C56-F4CB-4F24-AF76-4C3C0F1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 Brain</a:t>
            </a:r>
          </a:p>
        </p:txBody>
      </p:sp>
      <p:sp>
        <p:nvSpPr>
          <p:cNvPr id="5" name="comp-desc">
            <a:extLst xmlns:a="http://schemas.openxmlformats.org/drawingml/2006/main">
              <a:ext uri="{FF2B5EF4-FFF2-40B4-BE49-F238E27FC236}">
                <a16:creationId xmlns:a16="http://schemas.microsoft.com/office/drawing/2014/main" id="{1C5E4970-3872-4117-A1FC-D475BE9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LLM 负责推理与决策</a:t>
            </a:r>
          </a:p>
        </p:txBody>
      </p:sp>
      <p:sp>
        <p:nvSpPr>
          <p:cNvPr id="6" name="comp-square">
            <a:extLst xmlns:a="http://schemas.openxmlformats.org/drawingml/2006/main">
              <a:ext uri="{FF2B5EF4-FFF2-40B4-BE49-F238E27FC236}">
                <a16:creationId xmlns:a16="http://schemas.microsoft.com/office/drawing/2014/main" id="{14D83B2F-7FAE-4008-8878-B1965EAC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-title">
            <a:extLst xmlns:a="http://schemas.openxmlformats.org/drawingml/2006/main">
              <a:ext uri="{FF2B5EF4-FFF2-40B4-BE49-F238E27FC236}">
                <a16:creationId xmlns:a16="http://schemas.microsoft.com/office/drawing/2014/main" id="{9CB2EE73-9D3D-4317-940D-F7BAF487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 Tools</a:t>
            </a:r>
          </a:p>
        </p:txBody>
      </p:sp>
      <p:sp>
        <p:nvSpPr>
          <p:cNvPr id="8" name="comp-desc">
            <a:extLst xmlns:a="http://schemas.openxmlformats.org/drawingml/2006/main">
              <a:ext uri="{FF2B5EF4-FFF2-40B4-BE49-F238E27FC236}">
                <a16:creationId xmlns:a16="http://schemas.microsoft.com/office/drawing/2014/main" id="{BCED29C4-2D3C-42CF-9E77-E14FE1B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 API、查库、跑代码</a:t>
            </a:r>
          </a:p>
        </p:txBody>
      </p:sp>
      <p:sp>
        <p:nvSpPr>
          <p:cNvPr id="9" name="comp-square">
            <a:extLst xmlns:a="http://schemas.openxmlformats.org/drawingml/2006/main">
              <a:ext uri="{FF2B5EF4-FFF2-40B4-BE49-F238E27FC236}">
                <a16:creationId xmlns:a16="http://schemas.microsoft.com/office/drawing/2014/main" id="{3EBA76A3-68F8-4256-AA05-7209F58D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-title">
            <a:extLst xmlns:a="http://schemas.openxmlformats.org/drawingml/2006/main">
              <a:ext uri="{FF2B5EF4-FFF2-40B4-BE49-F238E27FC236}">
                <a16:creationId xmlns:a16="http://schemas.microsoft.com/office/drawing/2014/main" id="{32A3C0AA-6585-40D4-A09A-6395635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指令 Instructions</a:t>
            </a:r>
          </a:p>
        </p:txBody>
      </p:sp>
      <p:sp>
        <p:nvSpPr>
          <p:cNvPr id="11" name="comp-desc">
            <a:extLst xmlns:a="http://schemas.openxmlformats.org/drawingml/2006/main">
              <a:ext uri="{FF2B5EF4-FFF2-40B4-BE49-F238E27FC236}">
                <a16:creationId xmlns:a16="http://schemas.microsoft.com/office/drawing/2014/main" id="{E92F9718-AE89-404B-A2AE-F769DB3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定义角色、约束与输出格式</a:t>
            </a:r>
          </a:p>
        </p:txBody>
      </p:sp>
      <p:sp>
        <p:nvSpPr>
          <p:cNvPr id="12" name="comp-square">
            <a:extLst xmlns:a="http://schemas.openxmlformats.org/drawingml/2006/main">
              <a:ext uri="{FF2B5EF4-FFF2-40B4-BE49-F238E27FC236}">
                <a16:creationId xmlns:a16="http://schemas.microsoft.com/office/drawing/2014/main" id="{DA8777E7-45E6-4CF1-BDCE-4D568267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-title">
            <a:extLst xmlns:a="http://schemas.openxmlformats.org/drawingml/2006/main">
              <a:ext uri="{FF2B5EF4-FFF2-40B4-BE49-F238E27FC236}">
                <a16:creationId xmlns:a16="http://schemas.microsoft.com/office/drawing/2014/main" id="{8A1E167D-8D1D-4D6F-BB6D-64B6B301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14" name="comp-desc">
            <a:extLst xmlns:a="http://schemas.openxmlformats.org/drawingml/2006/main">
              <a:ext uri="{FF2B5EF4-FFF2-40B4-BE49-F238E27FC236}">
                <a16:creationId xmlns:a16="http://schemas.microsoft.com/office/drawing/2014/main" id="{CB47F7EE-F656-411F-BAF6-A552F7B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记住对话、偏好与经验</a:t>
            </a:r>
          </a:p>
        </p:txBody>
      </p:sp>
      <p:sp>
        <p:nvSpPr>
          <p:cNvPr id="15" name="comp-square">
            <a:extLst xmlns:a="http://schemas.openxmlformats.org/drawingml/2006/main">
              <a:ext uri="{FF2B5EF4-FFF2-40B4-BE49-F238E27FC236}">
                <a16:creationId xmlns:a16="http://schemas.microsoft.com/office/drawing/2014/main" id="{523B09FE-5F4B-4A52-8958-2482D0D3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-title">
            <a:extLst xmlns:a="http://schemas.openxmlformats.org/drawingml/2006/main">
              <a:ext uri="{FF2B5EF4-FFF2-40B4-BE49-F238E27FC236}">
                <a16:creationId xmlns:a16="http://schemas.microsoft.com/office/drawing/2014/main" id="{19D368FB-8E7A-4E1A-B91B-F6510F1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运行时循环</a:t>
            </a:r>
          </a:p>
        </p:txBody>
      </p:sp>
      <p:sp>
        <p:nvSpPr>
          <p:cNvPr id="17" name="comp-desc">
            <a:extLst xmlns:a="http://schemas.openxmlformats.org/drawingml/2006/main">
              <a:ext uri="{FF2B5EF4-FFF2-40B4-BE49-F238E27FC236}">
                <a16:creationId xmlns:a16="http://schemas.microsoft.com/office/drawing/2014/main" id="{B914AE22-70E4-42B3-960D-EC3D3C3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思考 → 行动 → 观察 → 再思考</a:t>
            </a:r>
          </a:p>
        </p:txBody>
      </p:sp>
      <p:sp>
        <p:nvSpPr>
          <p:cNvPr id="18" name="comp-square">
            <a:extLst xmlns:a="http://schemas.openxmlformats.org/drawingml/2006/main">
              <a:ext uri="{FF2B5EF4-FFF2-40B4-BE49-F238E27FC236}">
                <a16:creationId xmlns:a16="http://schemas.microsoft.com/office/drawing/2014/main" id="{0EBD962C-EF2F-4742-8926-EF1F81B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-title">
            <a:extLst xmlns:a="http://schemas.openxmlformats.org/drawingml/2006/main">
              <a:ext uri="{FF2B5EF4-FFF2-40B4-BE49-F238E27FC236}">
                <a16:creationId xmlns:a16="http://schemas.microsoft.com/office/drawing/2014/main" id="{CCB2F04C-CDE8-4FBC-884A-D794305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  <p:sp>
        <p:nvSpPr>
          <p:cNvPr id="20" name="comp-desc">
            <a:extLst xmlns:a="http://schemas.openxmlformats.org/drawingml/2006/main">
              <a:ext uri="{FF2B5EF4-FFF2-40B4-BE49-F238E27FC236}">
                <a16:creationId xmlns:a16="http://schemas.microsoft.com/office/drawing/2014/main" id="{CC4B9296-28ED-4387-BFE3-622A2176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Agent = 模型 + 工具 + 指令 + 记忆 + 循环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DCECA0-C1BE-4546-BC5E-402DF68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C93C9AD-A379-4ADA-A6E4-BC722C01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0520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4B132B45-50CB-4BCE-82AB-6AA1D14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· 与 LLM 的区别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316F45-EA9F-4BA8-947B-7DFC347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是“组件”，Agent 是“系统”</a:t>
            </a:r>
          </a:p>
        </p:txBody>
      </p:sp>
      <p:sp>
        <p:nvSpPr>
          <p:cNvPr id="3" name="cmp-h1">
            <a:extLst xmlns:a="http://schemas.openxmlformats.org/drawingml/2006/main">
              <a:ext uri="{FF2B5EF4-FFF2-40B4-BE49-F238E27FC236}">
                <a16:creationId xmlns:a16="http://schemas.microsoft.com/office/drawing/2014/main" id="{BEBED1F5-BF2F-4720-851E-08738573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4" name="cmp-h2">
            <a:extLst xmlns:a="http://schemas.openxmlformats.org/drawingml/2006/main">
              <a:ext uri="{FF2B5EF4-FFF2-40B4-BE49-F238E27FC236}">
                <a16:creationId xmlns:a16="http://schemas.microsoft.com/office/drawing/2014/main" id="{D5070330-5C10-45D5-BA47-57EDB19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38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LLM（大语言模型）</a:t>
            </a:r>
          </a:p>
        </p:txBody>
      </p:sp>
      <p:sp>
        <p:nvSpPr>
          <p:cNvPr id="5" name="cmp-h3">
            <a:extLst xmlns:a="http://schemas.openxmlformats.org/drawingml/2006/main">
              <a:ext uri="{FF2B5EF4-FFF2-40B4-BE49-F238E27FC236}">
                <a16:creationId xmlns:a16="http://schemas.microsoft.com/office/drawing/2014/main" id="{FFB5728F-EDC8-4F6D-864F-C50846D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Agent（智能体）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A73F22A-2C68-4A36-9767-7A2D362D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mp-dim">
            <a:extLst xmlns:a="http://schemas.openxmlformats.org/drawingml/2006/main">
              <a:ext uri="{FF2B5EF4-FFF2-40B4-BE49-F238E27FC236}">
                <a16:creationId xmlns:a16="http://schemas.microsoft.com/office/drawing/2014/main" id="{41B5F046-AD89-40C4-8DB5-B512C32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核心本质</a:t>
            </a:r>
          </a:p>
        </p:txBody>
      </p:sp>
      <p:sp>
        <p:nvSpPr>
          <p:cNvPr id="8" name="cmp-llm">
            <a:extLst xmlns:a="http://schemas.openxmlformats.org/drawingml/2006/main">
              <a:ext uri="{FF2B5EF4-FFF2-40B4-BE49-F238E27FC236}">
                <a16:creationId xmlns:a16="http://schemas.microsoft.com/office/drawing/2014/main" id="{60940C6C-0516-4FAE-8F72-6627B5F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生成语言的大脑</a:t>
            </a:r>
          </a:p>
        </p:txBody>
      </p:sp>
      <p:sp>
        <p:nvSpPr>
          <p:cNvPr id="9" name="cmp-agent">
            <a:extLst xmlns:a="http://schemas.openxmlformats.org/drawingml/2006/main">
              <a:ext uri="{FF2B5EF4-FFF2-40B4-BE49-F238E27FC236}">
                <a16:creationId xmlns:a16="http://schemas.microsoft.com/office/drawing/2014/main" id="{2C3F187E-4C14-46D4-BA36-EEAA61B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能感知、决策、行动的系统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D381F93-2E40-4EEE-85BC-07DE10DC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mp-dim">
            <a:extLst xmlns:a="http://schemas.openxmlformats.org/drawingml/2006/main">
              <a:ext uri="{FF2B5EF4-FFF2-40B4-BE49-F238E27FC236}">
                <a16:creationId xmlns:a16="http://schemas.microsoft.com/office/drawing/2014/main" id="{0FCD8CD5-F890-497E-BAEA-CBF788C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12" name="cmp-llm">
            <a:extLst xmlns:a="http://schemas.openxmlformats.org/drawingml/2006/main">
              <a:ext uri="{FF2B5EF4-FFF2-40B4-BE49-F238E27FC236}">
                <a16:creationId xmlns:a16="http://schemas.microsoft.com/office/drawing/2014/main" id="{44EA6153-8E02-4B63-8140-8946DD6F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文本进 → 文本出</a:t>
            </a:r>
          </a:p>
        </p:txBody>
      </p:sp>
      <p:sp>
        <p:nvSpPr>
          <p:cNvPr id="13" name="cmp-agent">
            <a:extLst xmlns:a="http://schemas.openxmlformats.org/drawingml/2006/main">
              <a:ext uri="{FF2B5EF4-FFF2-40B4-BE49-F238E27FC236}">
                <a16:creationId xmlns:a16="http://schemas.microsoft.com/office/drawing/2014/main" id="{7E0EFC28-A40C-4F03-AFDB-5263013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感知环境 → 产生真实行动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706B5208-9D9B-416C-9EC1-4ED4D3AF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p-dim">
            <a:extLst xmlns:a="http://schemas.openxmlformats.org/drawingml/2006/main">
              <a:ext uri="{FF2B5EF4-FFF2-40B4-BE49-F238E27FC236}">
                <a16:creationId xmlns:a16="http://schemas.microsoft.com/office/drawing/2014/main" id="{2D52F26D-3E8B-4CA8-BEFA-0993A16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6" name="cmp-llm">
            <a:extLst xmlns:a="http://schemas.openxmlformats.org/drawingml/2006/main">
              <a:ext uri="{FF2B5EF4-FFF2-40B4-BE49-F238E27FC236}">
                <a16:creationId xmlns:a16="http://schemas.microsoft.com/office/drawing/2014/main" id="{A0BECCF0-64AE-49CB-A55C-2B6E5C0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无状态，单次调用</a:t>
            </a:r>
          </a:p>
        </p:txBody>
      </p:sp>
      <p:sp>
        <p:nvSpPr>
          <p:cNvPr id="17" name="cmp-agent">
            <a:extLst xmlns:a="http://schemas.openxmlformats.org/drawingml/2006/main">
              <a:ext uri="{FF2B5EF4-FFF2-40B4-BE49-F238E27FC236}">
                <a16:creationId xmlns:a16="http://schemas.microsoft.com/office/drawing/2014/main" id="{343409BB-D489-4F8F-BA42-0FD6EB06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短期 + 长期记忆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CE91A7EF-16D2-40AB-BBEE-AA0FEE1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mp-dim">
            <a:extLst xmlns:a="http://schemas.openxmlformats.org/drawingml/2006/main">
              <a:ext uri="{FF2B5EF4-FFF2-40B4-BE49-F238E27FC236}">
                <a16:creationId xmlns:a16="http://schemas.microsoft.com/office/drawing/2014/main" id="{17A62713-4FE8-4381-BAA7-1705E8BE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20" name="cmp-llm">
            <a:extLst xmlns:a="http://schemas.openxmlformats.org/drawingml/2006/main">
              <a:ext uri="{FF2B5EF4-FFF2-40B4-BE49-F238E27FC236}">
                <a16:creationId xmlns:a16="http://schemas.microsoft.com/office/drawing/2014/main" id="{5089CF9B-DA71-4DBC-980C-68D50D0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00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本身不能执行</a:t>
            </a:r>
          </a:p>
        </p:txBody>
      </p:sp>
      <p:sp>
        <p:nvSpPr>
          <p:cNvPr id="21" name="cmp-agent">
            <a:extLst xmlns:a="http://schemas.openxmlformats.org/drawingml/2006/main">
              <a:ext uri="{FF2B5EF4-FFF2-40B4-BE49-F238E27FC236}">
                <a16:creationId xmlns:a16="http://schemas.microsoft.com/office/drawing/2014/main" id="{76374EE9-237C-49C3-A18A-339A6DF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能调工具、执行任务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5BE97E47-5E04-4D1F-B3ED-1D737BEC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mp-dim">
            <a:extLst xmlns:a="http://schemas.openxmlformats.org/drawingml/2006/main">
              <a:ext uri="{FF2B5EF4-FFF2-40B4-BE49-F238E27FC236}">
                <a16:creationId xmlns:a16="http://schemas.microsoft.com/office/drawing/2014/main" id="{EA11FA74-348D-4FEF-BD96-A326A921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主动性</a:t>
            </a:r>
          </a:p>
        </p:txBody>
      </p:sp>
      <p:sp>
        <p:nvSpPr>
          <p:cNvPr id="24" name="cmp-llm">
            <a:extLst xmlns:a="http://schemas.openxmlformats.org/drawingml/2006/main">
              <a:ext uri="{FF2B5EF4-FFF2-40B4-BE49-F238E27FC236}">
                <a16:creationId xmlns:a16="http://schemas.microsoft.com/office/drawing/2014/main" id="{FA3B53CF-A2B0-48BB-B956-0A8E0D58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24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被动回答提示</a:t>
            </a:r>
          </a:p>
        </p:txBody>
      </p:sp>
      <p:sp>
        <p:nvSpPr>
          <p:cNvPr id="25" name="cmp-agent">
            <a:extLst xmlns:a="http://schemas.openxmlformats.org/drawingml/2006/main">
              <a:ext uri="{FF2B5EF4-FFF2-40B4-BE49-F238E27FC236}">
                <a16:creationId xmlns:a16="http://schemas.microsoft.com/office/drawing/2014/main" id="{D1B1244C-0710-4045-AE8C-66FD5A8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目标导向、自主规划</a:t>
            </a:r>
          </a:p>
        </p:txBody>
      </p:sp>
      <p:sp>
        <p:nvSpPr>
          <p:cNvPr id="26" name="cmp-note">
            <a:extLst xmlns:a="http://schemas.openxmlformats.org/drawingml/2006/main">
              <a:ext uri="{FF2B5EF4-FFF2-40B4-BE49-F238E27FC236}">
                <a16:creationId xmlns:a16="http://schemas.microsoft.com/office/drawing/2014/main" id="{242ED55C-7701-4FAC-9766-84AFF33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简单说：LLM 只会“说”，Agent 能“计划、决策、行动、维持上下文”。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62398D-E085-4108-B97B-1B9405EC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B5999BB-15E6-40BF-A9F8-E992EB87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1372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DB84243F-82AF-4B94-94AA-6846DFFD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基本功能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22D30E-8DF6-4AD6-AB4F-D1FC387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的核心能力有六项</a:t>
            </a:r>
          </a:p>
        </p:txBody>
      </p:sp>
      <p:sp>
        <p:nvSpPr>
          <p:cNvPr id="3" name="cap-square">
            <a:extLst xmlns:a="http://schemas.openxmlformats.org/drawingml/2006/main">
              <a:ext uri="{FF2B5EF4-FFF2-40B4-BE49-F238E27FC236}">
                <a16:creationId xmlns:a16="http://schemas.microsoft.com/office/drawing/2014/main" id="{7F8806D6-DE15-4F96-A826-010947F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p-title">
            <a:extLst xmlns:a="http://schemas.openxmlformats.org/drawingml/2006/main">
              <a:ext uri="{FF2B5EF4-FFF2-40B4-BE49-F238E27FC236}">
                <a16:creationId xmlns:a16="http://schemas.microsoft.com/office/drawing/2014/main" id="{D9CD39AF-65BE-4CBC-8608-8D3507B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规划 Planning</a:t>
            </a:r>
          </a:p>
        </p:txBody>
      </p:sp>
      <p:sp>
        <p:nvSpPr>
          <p:cNvPr id="5" name="cap-desc">
            <a:extLst xmlns:a="http://schemas.openxmlformats.org/drawingml/2006/main">
              <a:ext uri="{FF2B5EF4-FFF2-40B4-BE49-F238E27FC236}">
                <a16:creationId xmlns:a16="http://schemas.microsoft.com/office/drawing/2014/main" id="{D0C82FAF-8D3F-4DA1-90D1-026D6621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拆解目标，安排执行步骤</a:t>
            </a:r>
          </a:p>
        </p:txBody>
      </p:sp>
      <p:sp>
        <p:nvSpPr>
          <p:cNvPr id="6" name="cap-square">
            <a:extLst xmlns:a="http://schemas.openxmlformats.org/drawingml/2006/main">
              <a:ext uri="{FF2B5EF4-FFF2-40B4-BE49-F238E27FC236}">
                <a16:creationId xmlns:a16="http://schemas.microsoft.com/office/drawing/2014/main" id="{F5F2E1EF-F95A-4474-8685-673AD338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-title">
            <a:extLst xmlns:a="http://schemas.openxmlformats.org/drawingml/2006/main">
              <a:ext uri="{FF2B5EF4-FFF2-40B4-BE49-F238E27FC236}">
                <a16:creationId xmlns:a16="http://schemas.microsoft.com/office/drawing/2014/main" id="{AD881314-EDD4-41AE-AD0C-98E278E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工具使用 Tool Use</a:t>
            </a:r>
          </a:p>
        </p:txBody>
      </p:sp>
      <p:sp>
        <p:nvSpPr>
          <p:cNvPr id="8" name="cap-desc">
            <a:extLst xmlns:a="http://schemas.openxmlformats.org/drawingml/2006/main">
              <a:ext uri="{FF2B5EF4-FFF2-40B4-BE49-F238E27FC236}">
                <a16:creationId xmlns:a16="http://schemas.microsoft.com/office/drawing/2014/main" id="{D88818ED-29F0-4BE0-BCD8-74F1211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 API、查库、跑代码、搜索</a:t>
            </a:r>
          </a:p>
        </p:txBody>
      </p:sp>
      <p:sp>
        <p:nvSpPr>
          <p:cNvPr id="9" name="cap-square">
            <a:extLst xmlns:a="http://schemas.openxmlformats.org/drawingml/2006/main">
              <a:ext uri="{FF2B5EF4-FFF2-40B4-BE49-F238E27FC236}">
                <a16:creationId xmlns:a16="http://schemas.microsoft.com/office/drawing/2014/main" id="{26FE4285-B81A-4184-8124-402C53B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-title">
            <a:extLst xmlns:a="http://schemas.openxmlformats.org/drawingml/2006/main">
              <a:ext uri="{FF2B5EF4-FFF2-40B4-BE49-F238E27FC236}">
                <a16:creationId xmlns:a16="http://schemas.microsoft.com/office/drawing/2014/main" id="{D0DC3CEF-FDB3-40EA-9E17-CF733CB9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感知 Perception</a:t>
            </a:r>
          </a:p>
        </p:txBody>
      </p:sp>
      <p:sp>
        <p:nvSpPr>
          <p:cNvPr id="11" name="cap-desc">
            <a:extLst xmlns:a="http://schemas.openxmlformats.org/drawingml/2006/main">
              <a:ext uri="{FF2B5EF4-FFF2-40B4-BE49-F238E27FC236}">
                <a16:creationId xmlns:a16="http://schemas.microsoft.com/office/drawing/2014/main" id="{AEC80D8D-9332-4F40-BD4D-C5FD42D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接收并理解环境信息</a:t>
            </a:r>
          </a:p>
        </p:txBody>
      </p:sp>
      <p:sp>
        <p:nvSpPr>
          <p:cNvPr id="12" name="cap-square">
            <a:extLst xmlns:a="http://schemas.openxmlformats.org/drawingml/2006/main">
              <a:ext uri="{FF2B5EF4-FFF2-40B4-BE49-F238E27FC236}">
                <a16:creationId xmlns:a16="http://schemas.microsoft.com/office/drawing/2014/main" id="{54EFE354-FD4E-43BB-A073-10157DC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title">
            <a:extLst xmlns:a="http://schemas.openxmlformats.org/drawingml/2006/main">
              <a:ext uri="{FF2B5EF4-FFF2-40B4-BE49-F238E27FC236}">
                <a16:creationId xmlns:a16="http://schemas.microsoft.com/office/drawing/2014/main" id="{0D98630E-AF5D-4D2E-9A66-9CAE870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14" name="cap-desc">
            <a:extLst xmlns:a="http://schemas.openxmlformats.org/drawingml/2006/main">
              <a:ext uri="{FF2B5EF4-FFF2-40B4-BE49-F238E27FC236}">
                <a16:creationId xmlns:a16="http://schemas.microsoft.com/office/drawing/2014/main" id="{DE7278EC-EEC7-4625-B054-3A01AC12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短期工作记忆 + 长期经验</a:t>
            </a:r>
          </a:p>
        </p:txBody>
      </p:sp>
      <p:sp>
        <p:nvSpPr>
          <p:cNvPr id="15" name="cap-square">
            <a:extLst xmlns:a="http://schemas.openxmlformats.org/drawingml/2006/main">
              <a:ext uri="{FF2B5EF4-FFF2-40B4-BE49-F238E27FC236}">
                <a16:creationId xmlns:a16="http://schemas.microsoft.com/office/drawing/2014/main" id="{59A7A560-30D4-4919-9140-54BAD2F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-title">
            <a:extLst xmlns:a="http://schemas.openxmlformats.org/drawingml/2006/main">
              <a:ext uri="{FF2B5EF4-FFF2-40B4-BE49-F238E27FC236}">
                <a16:creationId xmlns:a16="http://schemas.microsoft.com/office/drawing/2014/main" id="{D7F008E6-1E91-4041-B87D-5394B99F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 Action</a:t>
            </a:r>
          </a:p>
        </p:txBody>
      </p:sp>
      <p:sp>
        <p:nvSpPr>
          <p:cNvPr id="17" name="cap-desc">
            <a:extLst xmlns:a="http://schemas.openxmlformats.org/drawingml/2006/main">
              <a:ext uri="{FF2B5EF4-FFF2-40B4-BE49-F238E27FC236}">
                <a16:creationId xmlns:a16="http://schemas.microsoft.com/office/drawing/2014/main" id="{9625985C-5232-4C8F-B26B-6A30A5FB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把决策落地为真实动作</a:t>
            </a:r>
          </a:p>
        </p:txBody>
      </p:sp>
      <p:sp>
        <p:nvSpPr>
          <p:cNvPr id="18" name="cap-square">
            <a:extLst xmlns:a="http://schemas.openxmlformats.org/drawingml/2006/main">
              <a:ext uri="{FF2B5EF4-FFF2-40B4-BE49-F238E27FC236}">
                <a16:creationId xmlns:a16="http://schemas.microsoft.com/office/drawing/2014/main" id="{BC2CC8A6-EF93-4FC0-B615-8FC6F62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title">
            <a:extLst xmlns:a="http://schemas.openxmlformats.org/drawingml/2006/main">
              <a:ext uri="{FF2B5EF4-FFF2-40B4-BE49-F238E27FC236}">
                <a16:creationId xmlns:a16="http://schemas.microsoft.com/office/drawing/2014/main" id="{7F3D6460-0F8D-4061-B6E4-02AEC11E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反思 Reflection</a:t>
            </a:r>
          </a:p>
        </p:txBody>
      </p:sp>
      <p:sp>
        <p:nvSpPr>
          <p:cNvPr id="20" name="cap-desc">
            <a:extLst xmlns:a="http://schemas.openxmlformats.org/drawingml/2006/main">
              <a:ext uri="{FF2B5EF4-FFF2-40B4-BE49-F238E27FC236}">
                <a16:creationId xmlns:a16="http://schemas.microsoft.com/office/drawing/2014/main" id="{F10C00C4-B333-41A6-977E-CA759002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检查结果，修正再迭代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651F96-5874-4CE0-A498-978B93D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FD297B-3BF4-4436-A097-E33ADE6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48449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BDEE7EDF-D0B9-4CC5-B6EA-2B3AC76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主流产品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2C4423-B11F-45F6-9E1C-7FAED92D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编程 Agent 目前最成熟</a:t>
            </a:r>
          </a:p>
        </p:txBody>
      </p:sp>
      <p:sp>
        <p:nvSpPr>
          <p:cNvPr id="3" name="code-name">
            <a:extLst xmlns:a="http://schemas.openxmlformats.org/drawingml/2006/main">
              <a:ext uri="{FF2B5EF4-FFF2-40B4-BE49-F238E27FC236}">
                <a16:creationId xmlns:a16="http://schemas.microsoft.com/office/drawing/2014/main" id="{CF4CB75E-9A28-4FDE-94A6-DEBA7028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4" name="code-desc">
            <a:extLst xmlns:a="http://schemas.openxmlformats.org/drawingml/2006/main">
              <a:ext uri="{FF2B5EF4-FFF2-40B4-BE49-F238E27FC236}">
                <a16:creationId xmlns:a16="http://schemas.microsoft.com/office/drawing/2014/main" id="{8685141D-37FA-484E-B0DE-23987B3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Anthropic，终端里的编码 Agent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1CB1D90-AD9C-484B-954A-024ECD8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name">
            <a:extLst xmlns:a="http://schemas.openxmlformats.org/drawingml/2006/main">
              <a:ext uri="{FF2B5EF4-FFF2-40B4-BE49-F238E27FC236}">
                <a16:creationId xmlns:a16="http://schemas.microsoft.com/office/drawing/2014/main" id="{55C2A89A-7B5B-4992-8F44-6EB4654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Copilot</a:t>
            </a:r>
          </a:p>
        </p:txBody>
      </p:sp>
      <p:sp>
        <p:nvSpPr>
          <p:cNvPr id="7" name="code-desc">
            <a:extLst xmlns:a="http://schemas.openxmlformats.org/drawingml/2006/main">
              <a:ext uri="{FF2B5EF4-FFF2-40B4-BE49-F238E27FC236}">
                <a16:creationId xmlns:a16="http://schemas.microsoft.com/office/drawing/2014/main" id="{3D6295AF-3DCF-4748-8E15-6ED442A3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微软，Agent 模式与 Agent HQ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C134B70-B8C5-4BF7-8B1E-BFB8428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name">
            <a:extLst xmlns:a="http://schemas.openxmlformats.org/drawingml/2006/main">
              <a:ext uri="{FF2B5EF4-FFF2-40B4-BE49-F238E27FC236}">
                <a16:creationId xmlns:a16="http://schemas.microsoft.com/office/drawing/2014/main" id="{8E87F1AB-5DDA-4A0D-897C-3640805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10" name="code-desc">
            <a:extLst xmlns:a="http://schemas.openxmlformats.org/drawingml/2006/main">
              <a:ext uri="{FF2B5EF4-FFF2-40B4-BE49-F238E27FC236}">
                <a16:creationId xmlns:a16="http://schemas.microsoft.com/office/drawing/2014/main" id="{022177F5-B032-4CA8-B9D1-4B2B904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766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AI 代码编辑器，多文件改动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0D0860B-CF83-4132-AFA6-50AD161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name">
            <a:extLst xmlns:a="http://schemas.openxmlformats.org/drawingml/2006/main">
              <a:ext uri="{FF2B5EF4-FFF2-40B4-BE49-F238E27FC236}">
                <a16:creationId xmlns:a16="http://schemas.microsoft.com/office/drawing/2014/main" id="{2ABD3CE9-F55B-49B6-813A-ABD860D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Devin</a:t>
            </a:r>
          </a:p>
        </p:txBody>
      </p:sp>
      <p:sp>
        <p:nvSpPr>
          <p:cNvPr id="13" name="code-desc">
            <a:extLst xmlns:a="http://schemas.openxmlformats.org/drawingml/2006/main">
              <a:ext uri="{FF2B5EF4-FFF2-40B4-BE49-F238E27FC236}">
                <a16:creationId xmlns:a16="http://schemas.microsoft.com/office/drawing/2014/main" id="{1B4426CC-84B9-480A-9586-3BCB6053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Cognition，自主软件工程师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EE35FC2-EB25-45A4-8D31-C1FF54A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de-name">
            <a:extLst xmlns:a="http://schemas.openxmlformats.org/drawingml/2006/main">
              <a:ext uri="{FF2B5EF4-FFF2-40B4-BE49-F238E27FC236}">
                <a16:creationId xmlns:a16="http://schemas.microsoft.com/office/drawing/2014/main" id="{79F49A24-F219-4AD4-BA31-71C8CD24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 Codex</a:t>
            </a:r>
          </a:p>
        </p:txBody>
      </p:sp>
      <p:sp>
        <p:nvSpPr>
          <p:cNvPr id="16" name="code-desc">
            <a:extLst xmlns:a="http://schemas.openxmlformats.org/drawingml/2006/main">
              <a:ext uri="{FF2B5EF4-FFF2-40B4-BE49-F238E27FC236}">
                <a16:creationId xmlns:a16="http://schemas.microsoft.com/office/drawing/2014/main" id="{7F451C28-2E50-4DAC-8846-36C1EA77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24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OpenAI 的编程 Agent 产品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4EF4A8-E154-4706-B532-1065AB44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de-name">
            <a:extLst xmlns:a="http://schemas.openxmlformats.org/drawingml/2006/main">
              <a:ext uri="{FF2B5EF4-FFF2-40B4-BE49-F238E27FC236}">
                <a16:creationId xmlns:a16="http://schemas.microsoft.com/office/drawing/2014/main" id="{973152B2-15FF-433A-997C-2E520CB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Replit Agent</a:t>
            </a:r>
          </a:p>
        </p:txBody>
      </p:sp>
      <p:sp>
        <p:nvSpPr>
          <p:cNvPr id="19" name="code-desc">
            <a:extLst xmlns:a="http://schemas.openxmlformats.org/drawingml/2006/main">
              <a:ext uri="{FF2B5EF4-FFF2-40B4-BE49-F238E27FC236}">
                <a16:creationId xmlns:a16="http://schemas.microsoft.com/office/drawing/2014/main" id="{18074D72-E250-42FF-B6DF-5E50B7D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483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浏览器里快速搭原型、做小应用</a:t>
            </a:r>
          </a:p>
        </p:txBody>
      </p:sp>
      <p:sp>
        <p:nvSpPr>
          <p:cNvPr id="20" name="code-note">
            <a:extLst xmlns:a="http://schemas.openxmlformats.org/drawingml/2006/main">
              <a:ext uri="{FF2B5EF4-FFF2-40B4-BE49-F238E27FC236}">
                <a16:creationId xmlns:a16="http://schemas.microsoft.com/office/drawing/2014/main" id="{11966758-AD43-4703-BDE8-1439251D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此外还有 Google Jules、Antigravity 等面向编码的 Agent 工具。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419B61-A911-41B6-91B5-327C02A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168E90F-527E-4670-A1E3-F85D8623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24337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C9BBC46E-4A9F-4BB7-8D30-880B670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主流产品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B7A8CC-36E8-4922-A51F-87E482AD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通用自主 Agent 与国内平台</a:t>
            </a:r>
          </a:p>
        </p:txBody>
      </p:sp>
      <p:sp>
        <p:nvSpPr>
          <p:cNvPr id="3" name="gen-h-intl">
            <a:extLst xmlns:a="http://schemas.openxmlformats.org/drawingml/2006/main">
              <a:ext uri="{FF2B5EF4-FFF2-40B4-BE49-F238E27FC236}">
                <a16:creationId xmlns:a16="http://schemas.microsoft.com/office/drawing/2014/main" id="{DD26A2BB-8885-4C75-BF6D-806627E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通用 / 自主</a:t>
            </a:r>
          </a:p>
        </p:txBody>
      </p:sp>
      <p:sp>
        <p:nvSpPr>
          <p:cNvPr id="4" name="gen-h-cn">
            <a:extLst xmlns:a="http://schemas.openxmlformats.org/drawingml/2006/main">
              <a:ext uri="{FF2B5EF4-FFF2-40B4-BE49-F238E27FC236}">
                <a16:creationId xmlns:a16="http://schemas.microsoft.com/office/drawing/2014/main" id="{0B9D9560-D97C-42E3-813B-DCE211D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国内平台与产品</a:t>
            </a:r>
          </a:p>
        </p:txBody>
      </p:sp>
      <p:sp>
        <p:nvSpPr>
          <p:cNvPr id="5" name="gen-name">
            <a:extLst xmlns:a="http://schemas.openxmlformats.org/drawingml/2006/main">
              <a:ext uri="{FF2B5EF4-FFF2-40B4-BE49-F238E27FC236}">
                <a16:creationId xmlns:a16="http://schemas.microsoft.com/office/drawing/2014/main" id="{FFF66457-D321-43A4-8D71-EC7F948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 Operator</a:t>
            </a:r>
          </a:p>
        </p:txBody>
      </p:sp>
      <p:sp>
        <p:nvSpPr>
          <p:cNvPr id="6" name="gen-desc">
            <a:extLst xmlns:a="http://schemas.openxmlformats.org/drawingml/2006/main">
              <a:ext uri="{FF2B5EF4-FFF2-40B4-BE49-F238E27FC236}">
                <a16:creationId xmlns:a16="http://schemas.microsoft.com/office/drawing/2014/main" id="{EE539E11-EAE6-45E0-9D83-F3B10F33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浏览器多步操作</a:t>
            </a:r>
          </a:p>
        </p:txBody>
      </p:sp>
      <p:sp>
        <p:nvSpPr>
          <p:cNvPr id="7" name="gen-cn-name">
            <a:extLst xmlns:a="http://schemas.openxmlformats.org/drawingml/2006/main">
              <a:ext uri="{FF2B5EF4-FFF2-40B4-BE49-F238E27FC236}">
                <a16:creationId xmlns:a16="http://schemas.microsoft.com/office/drawing/2014/main" id="{12AD099F-BF51-497B-BA90-249B3225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字节 扣子 Coze</a:t>
            </a:r>
          </a:p>
        </p:txBody>
      </p:sp>
      <p:sp>
        <p:nvSpPr>
          <p:cNvPr id="8" name="gen-cn-desc">
            <a:extLst xmlns:a="http://schemas.openxmlformats.org/drawingml/2006/main">
              <a:ext uri="{FF2B5EF4-FFF2-40B4-BE49-F238E27FC236}">
                <a16:creationId xmlns:a16="http://schemas.microsoft.com/office/drawing/2014/main" id="{D297AF94-4A2F-414D-BB60-6BF4E35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低代码 Agent 平台</a:t>
            </a:r>
          </a:p>
        </p:txBody>
      </p:sp>
      <p:sp>
        <p:nvSpPr>
          <p:cNvPr id="9" name="gen-name">
            <a:extLst xmlns:a="http://schemas.openxmlformats.org/drawingml/2006/main">
              <a:ext uri="{FF2B5EF4-FFF2-40B4-BE49-F238E27FC236}">
                <a16:creationId xmlns:a16="http://schemas.microsoft.com/office/drawing/2014/main" id="{CBA6CA34-5CCB-439D-A430-BA48D32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ChatGPT Agent</a:t>
            </a:r>
          </a:p>
        </p:txBody>
      </p:sp>
      <p:sp>
        <p:nvSpPr>
          <p:cNvPr id="10" name="gen-desc">
            <a:extLst xmlns:a="http://schemas.openxmlformats.org/drawingml/2006/main">
              <a:ext uri="{FF2B5EF4-FFF2-40B4-BE49-F238E27FC236}">
                <a16:creationId xmlns:a16="http://schemas.microsoft.com/office/drawing/2014/main" id="{F79FF933-63D2-458B-981C-5E8E726B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通用助手里的 Agent 能力</a:t>
            </a:r>
          </a:p>
        </p:txBody>
      </p:sp>
      <p:sp>
        <p:nvSpPr>
          <p:cNvPr id="11" name="gen-cn-name">
            <a:extLst xmlns:a="http://schemas.openxmlformats.org/drawingml/2006/main">
              <a:ext uri="{FF2B5EF4-FFF2-40B4-BE49-F238E27FC236}">
                <a16:creationId xmlns:a16="http://schemas.microsoft.com/office/drawing/2014/main" id="{DAAD3923-D76B-41EA-9995-BFFB129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阿里 百炼 / 通义</a:t>
            </a:r>
          </a:p>
        </p:txBody>
      </p:sp>
      <p:sp>
        <p:nvSpPr>
          <p:cNvPr id="12" name="gen-cn-desc">
            <a:extLst xmlns:a="http://schemas.openxmlformats.org/drawingml/2006/main">
              <a:ext uri="{FF2B5EF4-FFF2-40B4-BE49-F238E27FC236}">
                <a16:creationId xmlns:a16="http://schemas.microsoft.com/office/drawing/2014/main" id="{4F36C21D-70DE-4218-9661-F8B3903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模型 + Agent 平台</a:t>
            </a:r>
          </a:p>
        </p:txBody>
      </p:sp>
      <p:sp>
        <p:nvSpPr>
          <p:cNvPr id="13" name="gen-name">
            <a:extLst xmlns:a="http://schemas.openxmlformats.org/drawingml/2006/main">
              <a:ext uri="{FF2B5EF4-FFF2-40B4-BE49-F238E27FC236}">
                <a16:creationId xmlns:a16="http://schemas.microsoft.com/office/drawing/2014/main" id="{3A84BF48-D3F8-4D99-8932-6A446335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Manus</a:t>
            </a:r>
          </a:p>
        </p:txBody>
      </p:sp>
      <p:sp>
        <p:nvSpPr>
          <p:cNvPr id="14" name="gen-desc">
            <a:extLst xmlns:a="http://schemas.openxmlformats.org/drawingml/2006/main">
              <a:ext uri="{FF2B5EF4-FFF2-40B4-BE49-F238E27FC236}">
                <a16:creationId xmlns:a16="http://schemas.microsoft.com/office/drawing/2014/main" id="{5813902D-4C88-4361-ABC0-403F71AE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自主研究、建站、多步任务</a:t>
            </a:r>
          </a:p>
        </p:txBody>
      </p:sp>
      <p:sp>
        <p:nvSpPr>
          <p:cNvPr id="15" name="gen-cn-name">
            <a:extLst xmlns:a="http://schemas.openxmlformats.org/drawingml/2006/main">
              <a:ext uri="{FF2B5EF4-FFF2-40B4-BE49-F238E27FC236}">
                <a16:creationId xmlns:a16="http://schemas.microsoft.com/office/drawing/2014/main" id="{6D448720-C883-435F-BA7E-4D56B6B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百度 文心智能体</a:t>
            </a:r>
          </a:p>
        </p:txBody>
      </p:sp>
      <p:sp>
        <p:nvSpPr>
          <p:cNvPr id="16" name="gen-cn-desc">
            <a:extLst xmlns:a="http://schemas.openxmlformats.org/drawingml/2006/main">
              <a:ext uri="{FF2B5EF4-FFF2-40B4-BE49-F238E27FC236}">
                <a16:creationId xmlns:a16="http://schemas.microsoft.com/office/drawing/2014/main" id="{10B93A63-324A-417A-BF0F-9C73627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中文智能体平台</a:t>
            </a:r>
          </a:p>
        </p:txBody>
      </p:sp>
      <p:sp>
        <p:nvSpPr>
          <p:cNvPr id="17" name="gen-name">
            <a:extLst xmlns:a="http://schemas.openxmlformats.org/drawingml/2006/main">
              <a:ext uri="{FF2B5EF4-FFF2-40B4-BE49-F238E27FC236}">
                <a16:creationId xmlns:a16="http://schemas.microsoft.com/office/drawing/2014/main" id="{37D83B84-139A-4A2A-8FAA-B311B2F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Perplexity Comet</a:t>
            </a:r>
          </a:p>
        </p:txBody>
      </p:sp>
      <p:sp>
        <p:nvSpPr>
          <p:cNvPr id="18" name="gen-desc">
            <a:extLst xmlns:a="http://schemas.openxmlformats.org/drawingml/2006/main">
              <a:ext uri="{FF2B5EF4-FFF2-40B4-BE49-F238E27FC236}">
                <a16:creationId xmlns:a16="http://schemas.microsoft.com/office/drawing/2014/main" id="{F34A6C29-AAC5-495F-B041-B382788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浏览器自主操作</a:t>
            </a:r>
          </a:p>
        </p:txBody>
      </p:sp>
      <p:sp>
        <p:nvSpPr>
          <p:cNvPr id="19" name="gen-cn-name">
            <a:extLst xmlns:a="http://schemas.openxmlformats.org/drawingml/2006/main">
              <a:ext uri="{FF2B5EF4-FFF2-40B4-BE49-F238E27FC236}">
                <a16:creationId xmlns:a16="http://schemas.microsoft.com/office/drawing/2014/main" id="{A7775668-E8CD-440F-BFF2-38A62DF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 元器</a:t>
            </a:r>
          </a:p>
        </p:txBody>
      </p:sp>
      <p:sp>
        <p:nvSpPr>
          <p:cNvPr id="20" name="gen-cn-desc">
            <a:extLst xmlns:a="http://schemas.openxmlformats.org/drawingml/2006/main">
              <a:ext uri="{FF2B5EF4-FFF2-40B4-BE49-F238E27FC236}">
                <a16:creationId xmlns:a16="http://schemas.microsoft.com/office/drawing/2014/main" id="{61922493-495C-4A9E-82A7-E6C0F48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智能体开发平台</a:t>
            </a:r>
          </a:p>
        </p:txBody>
      </p:sp>
      <p:sp>
        <p:nvSpPr>
          <p:cNvPr id="21" name="gen-name">
            <a:extLst xmlns:a="http://schemas.openxmlformats.org/drawingml/2006/main">
              <a:ext uri="{FF2B5EF4-FFF2-40B4-BE49-F238E27FC236}">
                <a16:creationId xmlns:a16="http://schemas.microsoft.com/office/drawing/2014/main" id="{035F2756-C201-4222-93A6-97F945A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Google Project Mariner</a:t>
            </a:r>
          </a:p>
        </p:txBody>
      </p:sp>
      <p:sp>
        <p:nvSpPr>
          <p:cNvPr id="22" name="gen-desc">
            <a:extLst xmlns:a="http://schemas.openxmlformats.org/drawingml/2006/main">
              <a:ext uri="{FF2B5EF4-FFF2-40B4-BE49-F238E27FC236}">
                <a16:creationId xmlns:a16="http://schemas.microsoft.com/office/drawing/2014/main" id="{255A52A9-FFC8-49BD-BBCC-65AE357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个人 AI 代理方向</a:t>
            </a:r>
          </a:p>
        </p:txBody>
      </p:sp>
      <p:sp>
        <p:nvSpPr>
          <p:cNvPr id="23" name="gen-cn-name">
            <a:extLst xmlns:a="http://schemas.openxmlformats.org/drawingml/2006/main">
              <a:ext uri="{FF2B5EF4-FFF2-40B4-BE49-F238E27FC236}">
                <a16:creationId xmlns:a16="http://schemas.microsoft.com/office/drawing/2014/main" id="{D0C0F479-389D-40C4-8D4B-91CF54FF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智谱 AutoGLM</a:t>
            </a:r>
          </a:p>
        </p:txBody>
      </p:sp>
      <p:sp>
        <p:nvSpPr>
          <p:cNvPr id="24" name="gen-cn-desc">
            <a:extLst xmlns:a="http://schemas.openxmlformats.org/drawingml/2006/main">
              <a:ext uri="{FF2B5EF4-FFF2-40B4-BE49-F238E27FC236}">
                <a16:creationId xmlns:a16="http://schemas.microsoft.com/office/drawing/2014/main" id="{AAF10AE4-7EF7-46C5-99FD-0CDFA0E7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手机 / 电脑自主操作</a:t>
            </a:r>
          </a:p>
        </p:txBody>
      </p:sp>
      <p:sp>
        <p:nvSpPr>
          <p:cNvPr id="25" name="gen-note">
            <a:extLst xmlns:a="http://schemas.openxmlformats.org/drawingml/2006/main">
              <a:ext uri="{FF2B5EF4-FFF2-40B4-BE49-F238E27FC236}">
                <a16:creationId xmlns:a16="http://schemas.microsoft.com/office/drawing/2014/main" id="{8BE95AEA-B9D5-41F0-A07B-78160D86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还有 Kimi、MiniMax、讯飞等也在不断增强 Agent 能力。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A4B12C-1373-4AEA-9D25-EA37499C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8E1196D-EF02-4F80-AC4E-63E2095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08083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63BA7444-065B-4192-B3B6-5C86EDE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补充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59298F-0555-4179-BA27-8CB88060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 Agent 常用这些框架</a:t>
            </a:r>
          </a:p>
        </p:txBody>
      </p:sp>
      <p:sp>
        <p:nvSpPr>
          <p:cNvPr id="3" name="fw-name">
            <a:extLst xmlns:a="http://schemas.openxmlformats.org/drawingml/2006/main">
              <a:ext uri="{FF2B5EF4-FFF2-40B4-BE49-F238E27FC236}">
                <a16:creationId xmlns:a16="http://schemas.microsoft.com/office/drawing/2014/main" id="{0ECD8E6C-EEA4-4CB7-8AC3-15B3EDB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LangChain / LangGraph</a:t>
            </a:r>
          </a:p>
        </p:txBody>
      </p:sp>
      <p:sp>
        <p:nvSpPr>
          <p:cNvPr id="4" name="fw-desc">
            <a:extLst xmlns:a="http://schemas.openxmlformats.org/drawingml/2006/main">
              <a:ext uri="{FF2B5EF4-FFF2-40B4-BE49-F238E27FC236}">
                <a16:creationId xmlns:a16="http://schemas.microsoft.com/office/drawing/2014/main" id="{AB9C700B-3486-4BD7-A08A-3F3F713B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288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最流行的 Agent 编排框架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CEF8222-654F-4E22-8139-D403B2BA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w-name">
            <a:extLst xmlns:a="http://schemas.openxmlformats.org/drawingml/2006/main">
              <a:ext uri="{FF2B5EF4-FFF2-40B4-BE49-F238E27FC236}">
                <a16:creationId xmlns:a16="http://schemas.microsoft.com/office/drawing/2014/main" id="{7D8577CA-6009-4CAF-8C6C-DBF6568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Microsoft AutoGen</a:t>
            </a:r>
          </a:p>
        </p:txBody>
      </p:sp>
      <p:sp>
        <p:nvSpPr>
          <p:cNvPr id="7" name="fw-desc">
            <a:extLst xmlns:a="http://schemas.openxmlformats.org/drawingml/2006/main">
              <a:ext uri="{FF2B5EF4-FFF2-40B4-BE49-F238E27FC236}">
                <a16:creationId xmlns:a16="http://schemas.microsoft.com/office/drawing/2014/main" id="{6D8C46DD-DCBC-4E41-9B1E-80C2CB4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多代理协作框架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A1B33A2-0426-4E8C-8EF5-CA2A196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w-name">
            <a:extLst xmlns:a="http://schemas.openxmlformats.org/drawingml/2006/main">
              <a:ext uri="{FF2B5EF4-FFF2-40B4-BE49-F238E27FC236}">
                <a16:creationId xmlns:a16="http://schemas.microsoft.com/office/drawing/2014/main" id="{B5001A2E-D669-40C2-8F12-4255CBE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Semantic Kernel</a:t>
            </a:r>
          </a:p>
        </p:txBody>
      </p:sp>
      <p:sp>
        <p:nvSpPr>
          <p:cNvPr id="10" name="fw-desc">
            <a:extLst xmlns:a="http://schemas.openxmlformats.org/drawingml/2006/main">
              <a:ext uri="{FF2B5EF4-FFF2-40B4-BE49-F238E27FC236}">
                <a16:creationId xmlns:a16="http://schemas.microsoft.com/office/drawing/2014/main" id="{BFA0613F-1A55-47AD-8517-957EFD05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微软企业级编排框架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1DD3C55-C370-48E7-ACE8-83D94BD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w-name">
            <a:extLst xmlns:a="http://schemas.openxmlformats.org/drawingml/2006/main">
              <a:ext uri="{FF2B5EF4-FFF2-40B4-BE49-F238E27FC236}">
                <a16:creationId xmlns:a16="http://schemas.microsoft.com/office/drawing/2014/main" id="{514045D2-F1B2-40A2-89AA-2F6388FF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CrewAI</a:t>
            </a:r>
          </a:p>
        </p:txBody>
      </p:sp>
      <p:sp>
        <p:nvSpPr>
          <p:cNvPr id="13" name="fw-desc">
            <a:extLst xmlns:a="http://schemas.openxmlformats.org/drawingml/2006/main">
              <a:ext uri="{FF2B5EF4-FFF2-40B4-BE49-F238E27FC236}">
                <a16:creationId xmlns:a16="http://schemas.microsoft.com/office/drawing/2014/main" id="{1FFBE261-FE6C-4A1E-8D68-B56692F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多角色协作 Agent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CDF88BE2-8F9C-450A-97DC-57DBE3D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w-name">
            <a:extLst xmlns:a="http://schemas.openxmlformats.org/drawingml/2006/main">
              <a:ext uri="{FF2B5EF4-FFF2-40B4-BE49-F238E27FC236}">
                <a16:creationId xmlns:a16="http://schemas.microsoft.com/office/drawing/2014/main" id="{C494ADCB-9DAE-4AA9-8703-26202FB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LlamaIndex</a:t>
            </a:r>
          </a:p>
        </p:txBody>
      </p:sp>
      <p:sp>
        <p:nvSpPr>
          <p:cNvPr id="16" name="fw-desc">
            <a:extLst xmlns:a="http://schemas.openxmlformats.org/drawingml/2006/main">
              <a:ext uri="{FF2B5EF4-FFF2-40B4-BE49-F238E27FC236}">
                <a16:creationId xmlns:a16="http://schemas.microsoft.com/office/drawing/2014/main" id="{7458B05A-E5B8-4509-B3C9-C9D60F5E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面向 RAG 与数据检索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C67396F-D328-438E-B412-EA080B5D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w-name">
            <a:extLst xmlns:a="http://schemas.openxmlformats.org/drawingml/2006/main">
              <a:ext uri="{FF2B5EF4-FFF2-40B4-BE49-F238E27FC236}">
                <a16:creationId xmlns:a16="http://schemas.microsoft.com/office/drawing/2014/main" id="{97E6FFF5-DD37-47D6-AA8B-E06500EA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 Agents SDK</a:t>
            </a:r>
          </a:p>
        </p:txBody>
      </p:sp>
      <p:sp>
        <p:nvSpPr>
          <p:cNvPr id="19" name="fw-desc">
            <a:extLst xmlns:a="http://schemas.openxmlformats.org/drawingml/2006/main">
              <a:ext uri="{FF2B5EF4-FFF2-40B4-BE49-F238E27FC236}">
                <a16:creationId xmlns:a16="http://schemas.microsoft.com/office/drawing/2014/main" id="{ACB23369-4C83-4CA5-934F-55C99932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483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在 GPT 生态构建 Agent</a:t>
            </a:r>
          </a:p>
        </p:txBody>
      </p:sp>
      <p:sp>
        <p:nvSpPr>
          <p:cNvPr id="20" name="fw-note">
            <a:extLst xmlns:a="http://schemas.openxmlformats.org/drawingml/2006/main">
              <a:ext uri="{FF2B5EF4-FFF2-40B4-BE49-F238E27FC236}">
                <a16:creationId xmlns:a16="http://schemas.microsoft.com/office/drawing/2014/main" id="{AD4B316F-ED44-434C-95F3-2717E23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这些是开发框架而非成品；成品产品通常也建立在类似的编排机制之上。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A786C1-1E2C-4C1F-ABB8-C12CF29E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6D1B0AA-3CFA-41D1-9881-FC2D3F98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01261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E3A1CC0-ECE0-4439-AECB-9018485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47CC84-FF62-4C06-9FDD-5392EAF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一句话记住 Agent</a:t>
            </a:r>
          </a:p>
        </p:txBody>
      </p:sp>
      <p:sp>
        <p:nvSpPr>
          <p:cNvPr id="3" name="sum-panel">
            <a:extLst xmlns:a="http://schemas.openxmlformats.org/drawingml/2006/main">
              <a:ext uri="{FF2B5EF4-FFF2-40B4-BE49-F238E27FC236}">
                <a16:creationId xmlns:a16="http://schemas.microsoft.com/office/drawing/2014/main" id="{2971C1C3-9B3C-4737-A2BA-B81879F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takeaway">
            <a:extLst xmlns:a="http://schemas.openxmlformats.org/drawingml/2006/main">
              <a:ext uri="{FF2B5EF4-FFF2-40B4-BE49-F238E27FC236}">
                <a16:creationId xmlns:a16="http://schemas.microsoft.com/office/drawing/2014/main" id="{9D4BC286-657B-4B37-987F-E35CAF2D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1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是“会自己动手干活的 AI 系统”：以 LLM 为大脑，加上工具、记忆、指令和运行时循环，具备规划、调用工具、感知、记忆与自主执行的能力；目前最成熟的落地在编程，通用自主 Agent 与国内平台正在快速发展。</a:t>
            </a:r>
          </a:p>
        </p:txBody>
      </p:sp>
      <p:sp>
        <p:nvSpPr>
          <p:cNvPr id="5" name="sum-key-label">
            <a:extLst xmlns:a="http://schemas.openxmlformats.org/drawingml/2006/main">
              <a:ext uri="{FF2B5EF4-FFF2-40B4-BE49-F238E27FC236}">
                <a16:creationId xmlns:a16="http://schemas.microsoft.com/office/drawing/2014/main" id="{A9FDDC54-E4B5-4F93-A757-E3600DCC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关键要点</a:t>
            </a:r>
          </a:p>
        </p:txBody>
      </p:sp>
      <p:sp>
        <p:nvSpPr>
          <p:cNvPr id="6" name="sum-key-num">
            <a:extLst xmlns:a="http://schemas.openxmlformats.org/drawingml/2006/main">
              <a:ext uri="{FF2B5EF4-FFF2-40B4-BE49-F238E27FC236}">
                <a16:creationId xmlns:a16="http://schemas.microsoft.com/office/drawing/2014/main" id="{37DB087A-DF85-4D66-BB89-8D4D74E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um-key-text">
            <a:extLst xmlns:a="http://schemas.openxmlformats.org/drawingml/2006/main">
              <a:ext uri="{FF2B5EF4-FFF2-40B4-BE49-F238E27FC236}">
                <a16:creationId xmlns:a16="http://schemas.microsoft.com/office/drawing/2014/main" id="{075840AE-C685-4239-A58E-CD59B98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关系：LLM 是大脑，Agent 是完整系统</a:t>
            </a:r>
          </a:p>
        </p:txBody>
      </p:sp>
      <p:sp>
        <p:nvSpPr>
          <p:cNvPr id="8" name="sum-key-num">
            <a:extLst xmlns:a="http://schemas.openxmlformats.org/drawingml/2006/main">
              <a:ext uri="{FF2B5EF4-FFF2-40B4-BE49-F238E27FC236}">
                <a16:creationId xmlns:a16="http://schemas.microsoft.com/office/drawing/2014/main" id="{C75A276A-01C1-43CF-A2CD-ACAA0473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um-key-text">
            <a:extLst xmlns:a="http://schemas.openxmlformats.org/drawingml/2006/main">
              <a:ext uri="{FF2B5EF4-FFF2-40B4-BE49-F238E27FC236}">
                <a16:creationId xmlns:a16="http://schemas.microsoft.com/office/drawing/2014/main" id="{9D058B50-1A19-41C1-9AA7-58714FEC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能力：规划、工具、记忆、感知、反思</a:t>
            </a:r>
          </a:p>
        </p:txBody>
      </p:sp>
      <p:sp>
        <p:nvSpPr>
          <p:cNvPr id="10" name="sum-key-num">
            <a:extLst xmlns:a="http://schemas.openxmlformats.org/drawingml/2006/main">
              <a:ext uri="{FF2B5EF4-FFF2-40B4-BE49-F238E27FC236}">
                <a16:creationId xmlns:a16="http://schemas.microsoft.com/office/drawing/2014/main" id="{8F3EC40D-A9B2-465D-97DE-426B506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um-key-text">
            <a:extLst xmlns:a="http://schemas.openxmlformats.org/drawingml/2006/main">
              <a:ext uri="{FF2B5EF4-FFF2-40B4-BE49-F238E27FC236}">
                <a16:creationId xmlns:a16="http://schemas.microsoft.com/office/drawing/2014/main" id="{C6160A29-6494-4C09-BC20-622AD00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落地：编程 Agent 最成熟、最常用</a:t>
            </a:r>
          </a:p>
        </p:txBody>
      </p:sp>
      <p:sp>
        <p:nvSpPr>
          <p:cNvPr id="12" name="sum-key-num">
            <a:extLst xmlns:a="http://schemas.openxmlformats.org/drawingml/2006/main">
              <a:ext uri="{FF2B5EF4-FFF2-40B4-BE49-F238E27FC236}">
                <a16:creationId xmlns:a16="http://schemas.microsoft.com/office/drawing/2014/main" id="{72E7AF60-AE8A-4DFF-98F8-BCFFA01B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um-key-text">
            <a:extLst xmlns:a="http://schemas.openxmlformats.org/drawingml/2006/main">
              <a:ext uri="{FF2B5EF4-FFF2-40B4-BE49-F238E27FC236}">
                <a16:creationId xmlns:a16="http://schemas.microsoft.com/office/drawing/2014/main" id="{928FD20C-4ED7-40B2-A024-CB700D0F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趋势：多代理协作与自主执行加速发展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D061F2-E16E-4CF5-BBB9-8EC0A95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智能体入门 · Agent 基础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CBB3CEF-15FB-4206-8395-D41FAF7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7290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2026-08-18T04:32:55.3410000Z</dcterms:created>
  <dcterms:modified xsi:type="dcterms:W3CDTF">2026-08-18T04:32:55.3410000Z</dcterms:modified>
</coreProperties>
</file>