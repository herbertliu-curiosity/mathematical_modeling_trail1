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6ad741340e437c" /><Relationship Type="http://schemas.openxmlformats.org/officeDocument/2006/relationships/extended-properties" Target="/docProps/app.xml" Id="R394c82b5966f43e2" /><Relationship Type="http://schemas.openxmlformats.org/officeDocument/2006/relationships/officeDocument" Target="/ppt/presentation.xml" Id="R1060ab5560574c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10045fbac644cf"/>
  </p:sldMasterIdLst>
  <p:notesMasterIdLst>
    <p:notesMasterId xmlns:r="http://schemas.openxmlformats.org/officeDocument/2006/relationships" r:id="Rcba3b9ffed2f4c32"/>
  </p:notesMasterIdLst>
  <p:sldIdLst>
    <p:sldId xmlns:r="http://schemas.openxmlformats.org/officeDocument/2006/relationships" id="256" r:id="Re2084f318c3f4d91"/>
    <p:sldId xmlns:r="http://schemas.openxmlformats.org/officeDocument/2006/relationships" id="257" r:id="Rdb808ce6ea5c4195"/>
    <p:sldId xmlns:r="http://schemas.openxmlformats.org/officeDocument/2006/relationships" id="258" r:id="Rf4566bc6ab054c6d"/>
    <p:sldId xmlns:r="http://schemas.openxmlformats.org/officeDocument/2006/relationships" id="259" r:id="Rf5bb5b550440444d"/>
    <p:sldId xmlns:r="http://schemas.openxmlformats.org/officeDocument/2006/relationships" id="260" r:id="R030f14772a73404a"/>
    <p:sldId xmlns:r="http://schemas.openxmlformats.org/officeDocument/2006/relationships" id="261" r:id="Ra86a348d2d054c07"/>
    <p:sldId xmlns:r="http://schemas.openxmlformats.org/officeDocument/2006/relationships" id="262" r:id="R20f4921e24094e3b"/>
    <p:sldId xmlns:r="http://schemas.openxmlformats.org/officeDocument/2006/relationships" id="263" r:id="R7a0a7a8816424946"/>
    <p:sldId xmlns:r="http://schemas.openxmlformats.org/officeDocument/2006/relationships" id="264" r:id="Rb41757a97a184c28"/>
    <p:sldId xmlns:r="http://schemas.openxmlformats.org/officeDocument/2006/relationships" id="265" r:id="R67e9336c996246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b1f1e86d8d49db" /><Relationship Type="http://schemas.openxmlformats.org/officeDocument/2006/relationships/slideMaster" Target="/ppt/slideMasters/slideMaster1.xml" Id="R3310045fbac644cf" /><Relationship Type="http://schemas.openxmlformats.org/officeDocument/2006/relationships/notesMaster" Target="/ppt/notesMasters/notesMaster1.xml" Id="Rcba3b9ffed2f4c32" /><Relationship Type="http://schemas.openxmlformats.org/officeDocument/2006/relationships/presProps" Target="/ppt/presProps.xml" Id="R34c28d3f46964ee0" /><Relationship Type="http://schemas.openxmlformats.org/officeDocument/2006/relationships/tableStyles" Target="/ppt/tableStyles.xml" Id="R2f7854b3c2f043db" /><Relationship Type="http://schemas.openxmlformats.org/officeDocument/2006/relationships/slide" Target="/ppt/slides/slide1.xml" Id="Re2084f318c3f4d91" /><Relationship Type="http://schemas.openxmlformats.org/officeDocument/2006/relationships/slide" Target="/ppt/slides/slide2.xml" Id="Rdb808ce6ea5c4195" /><Relationship Type="http://schemas.openxmlformats.org/officeDocument/2006/relationships/slide" Target="/ppt/slides/slide3.xml" Id="Rf4566bc6ab054c6d" /><Relationship Type="http://schemas.openxmlformats.org/officeDocument/2006/relationships/slide" Target="/ppt/slides/slide4.xml" Id="Rf5bb5b550440444d" /><Relationship Type="http://schemas.openxmlformats.org/officeDocument/2006/relationships/slide" Target="/ppt/slides/slide5.xml" Id="R030f14772a73404a" /><Relationship Type="http://schemas.openxmlformats.org/officeDocument/2006/relationships/slide" Target="/ppt/slides/slide6.xml" Id="Ra86a348d2d054c07" /><Relationship Type="http://schemas.openxmlformats.org/officeDocument/2006/relationships/slide" Target="/ppt/slides/slide7.xml" Id="R20f4921e24094e3b" /><Relationship Type="http://schemas.openxmlformats.org/officeDocument/2006/relationships/slide" Target="/ppt/slides/slide8.xml" Id="R7a0a7a8816424946" /><Relationship Type="http://schemas.openxmlformats.org/officeDocument/2006/relationships/slide" Target="/ppt/slides/slide9.xml" Id="Rb41757a97a184c28" /><Relationship Type="http://schemas.openxmlformats.org/officeDocument/2006/relationships/slide" Target="/ppt/slides/slide10.xml" Id="R67e9336c996246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e9c7aa955c49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7b58da3f2d456e" /><Relationship Type="http://schemas.openxmlformats.org/officeDocument/2006/relationships/notesMaster" Target="/ppt/notesMasters/notesMaster1.xml" Id="Re4039b32580642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eebf8de9a3404b" /><Relationship Type="http://schemas.openxmlformats.org/officeDocument/2006/relationships/notesMaster" Target="/ppt/notesMasters/notesMaster1.xml" Id="R870f298ad1154b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f4ea2a9c274685" /><Relationship Type="http://schemas.openxmlformats.org/officeDocument/2006/relationships/notesMaster" Target="/ppt/notesMasters/notesMaster1.xml" Id="R3c2467adc97e4f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a5840ef1454ef3" /><Relationship Type="http://schemas.openxmlformats.org/officeDocument/2006/relationships/notesMaster" Target="/ppt/notesMasters/notesMaster1.xml" Id="Rd36a645c6e7c4a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c85928369f4b16" /><Relationship Type="http://schemas.openxmlformats.org/officeDocument/2006/relationships/notesMaster" Target="/ppt/notesMasters/notesMaster1.xml" Id="R59bd249ad74544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eee6b7e4414bcc" /><Relationship Type="http://schemas.openxmlformats.org/officeDocument/2006/relationships/notesMaster" Target="/ppt/notesMasters/notesMaster1.xml" Id="Rd8478b2f0e9540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cd9e98bcfb43f5" /><Relationship Type="http://schemas.openxmlformats.org/officeDocument/2006/relationships/notesMaster" Target="/ppt/notesMasters/notesMaster1.xml" Id="R8fded2f3001442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24e67f9d0743b5" /><Relationship Type="http://schemas.openxmlformats.org/officeDocument/2006/relationships/notesMaster" Target="/ppt/notesMasters/notesMaster1.xml" Id="R122a4de8109241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4f35f0d59d4774" /><Relationship Type="http://schemas.openxmlformats.org/officeDocument/2006/relationships/notesMaster" Target="/ppt/notesMasters/notesMaster1.xml" Id="Rf364d3c3d4074e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d5339b33634dfd" /><Relationship Type="http://schemas.openxmlformats.org/officeDocument/2006/relationships/notesMaster" Target="/ppt/notesMasters/notesMaster1.xml" Id="R7df96ba0843544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b2bb8a84184f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df0283879a414f" /><Relationship Type="http://schemas.openxmlformats.org/officeDocument/2006/relationships/slideLayout" Target="/ppt/slideLayouts/slideLayout1.xml" Id="R0af307905c244c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f307905c244c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299ab7c014f02" /><Relationship Type="http://schemas.openxmlformats.org/officeDocument/2006/relationships/notesSlide" Target="/ppt/notesSlides/notesSlide1.xml" Id="R99027f186e3e4f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56490f4354da4" /><Relationship Type="http://schemas.openxmlformats.org/officeDocument/2006/relationships/notesSlide" Target="/ppt/notesSlides/notesSlide2.xml" Id="Rcc439b5ae76e4f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9799f822f46fc" /><Relationship Type="http://schemas.openxmlformats.org/officeDocument/2006/relationships/notesSlide" Target="/ppt/notesSlides/notesSlide3.xml" Id="R4d85a47c350848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659cd32e54151" /><Relationship Type="http://schemas.openxmlformats.org/officeDocument/2006/relationships/notesSlide" Target="/ppt/notesSlides/notesSlide4.xml" Id="Ra01c91258afb46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cf8685b4746ae" /><Relationship Type="http://schemas.openxmlformats.org/officeDocument/2006/relationships/notesSlide" Target="/ppt/notesSlides/notesSlide5.xml" Id="Rbb91f3ad1bc44f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a1552d5bc43a4" /><Relationship Type="http://schemas.openxmlformats.org/officeDocument/2006/relationships/notesSlide" Target="/ppt/notesSlides/notesSlide6.xml" Id="R0c08a9fd329a43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e8003e3c744bd" /><Relationship Type="http://schemas.openxmlformats.org/officeDocument/2006/relationships/notesSlide" Target="/ppt/notesSlides/notesSlide7.xml" Id="R401a30e770da44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93ad2426f4f23" /><Relationship Type="http://schemas.openxmlformats.org/officeDocument/2006/relationships/notesSlide" Target="/ppt/notesSlides/notesSlide8.xml" Id="R911c974efc5742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ba9f33b904203" /><Relationship Type="http://schemas.openxmlformats.org/officeDocument/2006/relationships/notesSlide" Target="/ppt/notesSlides/notesSlide9.xml" Id="R72d90371fc8743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af46343dd4c91" /><Relationship Type="http://schemas.openxmlformats.org/officeDocument/2006/relationships/notesSlide" Target="/ppt/notesSlides/notesSlide10.xml" Id="R8bb82ca14cd041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B6C2541-5D8C-42B9-B353-33D49CE2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LLM 基础 · 学习材料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586B912-532D-4FB7-A110-17B37D71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大语言模型入门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DA5851E-12C1-4E99-82B7-5D81A2F9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基本概念 · 发展历史 · 核心原理 · 主要厂商</a:t>
            </a:r>
          </a:p>
        </p:txBody>
      </p:sp>
      <p:sp>
        <p:nvSpPr>
          <p:cNvPr id="4" name="cover-note">
            <a:extLst xmlns:a="http://schemas.openxmlformats.org/drawingml/2006/main">
              <a:ext uri="{FF2B5EF4-FFF2-40B4-BE49-F238E27FC236}">
                <a16:creationId xmlns:a16="http://schemas.microsoft.com/office/drawing/2014/main" id="{FA7ED820-2589-44FE-B268-38C063F7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一份面向初学者的 LLM 知识概览</a:t>
            </a:r>
          </a:p>
        </p:txBody>
      </p:sp>
      <p:sp>
        <p:nvSpPr>
          <p:cNvPr id="5" name="cover-nest">
            <a:extLst xmlns:a="http://schemas.openxmlformats.org/drawingml/2006/main">
              <a:ext uri="{FF2B5EF4-FFF2-40B4-BE49-F238E27FC236}">
                <a16:creationId xmlns:a16="http://schemas.microsoft.com/office/drawing/2014/main" id="{D3A34ED6-2A42-4455-94CA-44DF583C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369570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cover-nest-label">
            <a:extLst xmlns:a="http://schemas.openxmlformats.org/drawingml/2006/main">
              <a:ext uri="{FF2B5EF4-FFF2-40B4-BE49-F238E27FC236}">
                <a16:creationId xmlns:a16="http://schemas.microsoft.com/office/drawing/2014/main" id="{F574D411-5E48-4A18-BDF6-8F93FB90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3695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生成式 AI</a:t>
            </a:r>
          </a:p>
        </p:txBody>
      </p:sp>
      <p:sp>
        <p:nvSpPr>
          <p:cNvPr id="7" name="cover-nest">
            <a:extLst xmlns:a="http://schemas.openxmlformats.org/drawingml/2006/main">
              <a:ext uri="{FF2B5EF4-FFF2-40B4-BE49-F238E27FC236}">
                <a16:creationId xmlns:a16="http://schemas.microsoft.com/office/drawing/2014/main" id="{5F0A9711-2CD6-493E-AF3B-F754E41B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31242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cover-nest-label">
            <a:extLst xmlns:a="http://schemas.openxmlformats.org/drawingml/2006/main">
              <a:ext uri="{FF2B5EF4-FFF2-40B4-BE49-F238E27FC236}">
                <a16:creationId xmlns:a16="http://schemas.microsoft.com/office/drawing/2014/main" id="{54E1DB0F-2D57-466A-911A-6ECE1260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312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深度学习</a:t>
            </a:r>
          </a:p>
        </p:txBody>
      </p:sp>
      <p:sp>
        <p:nvSpPr>
          <p:cNvPr id="9" name="cover-nest">
            <a:extLst xmlns:a="http://schemas.openxmlformats.org/drawingml/2006/main">
              <a:ext uri="{FF2B5EF4-FFF2-40B4-BE49-F238E27FC236}">
                <a16:creationId xmlns:a16="http://schemas.microsoft.com/office/drawing/2014/main" id="{10E4D678-8E90-44A2-AB99-6E1C5E97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5527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cover-nest-label">
            <a:extLst xmlns:a="http://schemas.openxmlformats.org/drawingml/2006/main">
              <a:ext uri="{FF2B5EF4-FFF2-40B4-BE49-F238E27FC236}">
                <a16:creationId xmlns:a16="http://schemas.microsoft.com/office/drawing/2014/main" id="{52D9550A-CF88-4B61-88F3-9208634D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大语言模型</a:t>
            </a:r>
          </a:p>
        </p:txBody>
      </p:sp>
      <p:sp>
        <p:nvSpPr>
          <p:cNvPr id="11" name="cover-nest">
            <a:extLst xmlns:a="http://schemas.openxmlformats.org/drawingml/2006/main">
              <a:ext uri="{FF2B5EF4-FFF2-40B4-BE49-F238E27FC236}">
                <a16:creationId xmlns:a16="http://schemas.microsoft.com/office/drawing/2014/main" id="{488E5164-FC0F-4056-AF0E-CE0D522F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19812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cover-nest-label">
            <a:extLst xmlns:a="http://schemas.openxmlformats.org/drawingml/2006/main">
              <a:ext uri="{FF2B5EF4-FFF2-40B4-BE49-F238E27FC236}">
                <a16:creationId xmlns:a16="http://schemas.microsoft.com/office/drawing/2014/main" id="{7BC4608D-7838-4CE0-9103-683065EE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198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ChatGPT / GPT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65C136-4ED0-49B4-A4BE-FDF86604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大语言模型入门 · LLM 基础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9340166-74BC-4D8C-898D-972B304A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725003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EF232D13-79CE-497F-8C1E-22D34929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5B2683-912E-4294-80D8-FBE639D2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这份材料会带你了解四件事</a:t>
            </a:r>
          </a:p>
        </p:txBody>
      </p:sp>
      <p:sp>
        <p:nvSpPr>
          <p:cNvPr id="3" name="agenda-num">
            <a:extLst xmlns:a="http://schemas.openxmlformats.org/drawingml/2006/main">
              <a:ext uri="{FF2B5EF4-FFF2-40B4-BE49-F238E27FC236}">
                <a16:creationId xmlns:a16="http://schemas.microsoft.com/office/drawing/2014/main" id="{4977A871-DECC-447B-A5D9-7CF8A4E8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45850972-1738-4950-98DF-510F105A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什么是 LLM</a:t>
            </a:r>
          </a:p>
        </p:txBody>
      </p:sp>
      <p:sp>
        <p:nvSpPr>
          <p:cNvPr id="5" name="agenda-desc">
            <a:extLst xmlns:a="http://schemas.openxmlformats.org/drawingml/2006/main">
              <a:ext uri="{FF2B5EF4-FFF2-40B4-BE49-F238E27FC236}">
                <a16:creationId xmlns:a16="http://schemas.microsoft.com/office/drawing/2014/main" id="{0911736D-B05D-4A61-BB5F-A2D0B18A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定义、本质，以及 token、上下文窗口等关键概念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67C4812B-1E81-401C-B523-5F36F4AF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genda-num">
            <a:extLst xmlns:a="http://schemas.openxmlformats.org/drawingml/2006/main">
              <a:ext uri="{FF2B5EF4-FFF2-40B4-BE49-F238E27FC236}">
                <a16:creationId xmlns:a16="http://schemas.microsoft.com/office/drawing/2014/main" id="{F3A53EF7-E68D-4F2F-AECE-C5282A18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FFF9758E-39EA-49F4-8ABE-B1B30BA8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95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LLM 的发展历史</a:t>
            </a:r>
          </a:p>
        </p:txBody>
      </p:sp>
      <p:sp>
        <p:nvSpPr>
          <p:cNvPr id="9" name="agenda-desc">
            <a:extLst xmlns:a="http://schemas.openxmlformats.org/drawingml/2006/main">
              <a:ext uri="{FF2B5EF4-FFF2-40B4-BE49-F238E27FC236}">
                <a16:creationId xmlns:a16="http://schemas.microsoft.com/office/drawing/2014/main" id="{81FCDA7F-72D5-4CD8-A2A5-AC048EBA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从 2017 年 Transformer 到 ChatGPT 与推理模型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7F9BDA20-C6EB-4E01-B806-B8C2D930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da-num">
            <a:extLst xmlns:a="http://schemas.openxmlformats.org/drawingml/2006/main">
              <a:ext uri="{FF2B5EF4-FFF2-40B4-BE49-F238E27FC236}">
                <a16:creationId xmlns:a16="http://schemas.microsoft.com/office/drawing/2014/main" id="{6D4812EA-5FA2-4DC1-9A1E-D619773C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9AA0B203-E57F-476B-BA70-293A3CD1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LLM 的算法原理</a:t>
            </a:r>
          </a:p>
        </p:txBody>
      </p:sp>
      <p:sp>
        <p:nvSpPr>
          <p:cNvPr id="13" name="agenda-desc">
            <a:extLst xmlns:a="http://schemas.openxmlformats.org/drawingml/2006/main">
              <a:ext uri="{FF2B5EF4-FFF2-40B4-BE49-F238E27FC236}">
                <a16:creationId xmlns:a16="http://schemas.microsoft.com/office/drawing/2014/main" id="{C5A71F45-C438-4321-81C2-BD16BB3C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Transformer 架构、预训练、对齐与推理增强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4F714778-29C9-4C33-A179-611DBE39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da-num">
            <a:extLst xmlns:a="http://schemas.openxmlformats.org/drawingml/2006/main">
              <a:ext uri="{FF2B5EF4-FFF2-40B4-BE49-F238E27FC236}">
                <a16:creationId xmlns:a16="http://schemas.microsoft.com/office/drawing/2014/main" id="{2344BCE4-1579-402F-B5D7-2CFDB974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77A54B83-45B9-4E82-96D9-20ED0B62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主要公司与产品</a:t>
            </a:r>
          </a:p>
        </p:txBody>
      </p:sp>
      <p:sp>
        <p:nvSpPr>
          <p:cNvPr id="17" name="agenda-desc">
            <a:extLst xmlns:a="http://schemas.openxmlformats.org/drawingml/2006/main">
              <a:ext uri="{FF2B5EF4-FFF2-40B4-BE49-F238E27FC236}">
                <a16:creationId xmlns:a16="http://schemas.microsoft.com/office/drawing/2014/main" id="{8F6B412D-0B7B-4813-985A-234C048E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OpenAI、Anthropic、Google，以及国内主要厂商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0758695-5E5B-40FC-A8A4-6FE9E3C0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大语言模型入门 · LLM 基础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5647823-9C2B-4D38-9ADE-7C17B4F7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58637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80A4C053-F8C6-4259-8BE1-D608A572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 · 什么是 LLM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133D59E-69D7-4498-9408-957C247F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LLM 是一个“预测下一个词”的语言模型</a:t>
            </a:r>
          </a:p>
        </p:txBody>
      </p:sp>
      <p:sp>
        <p:nvSpPr>
          <p:cNvPr id="3" name="def-panel">
            <a:extLst xmlns:a="http://schemas.openxmlformats.org/drawingml/2006/main">
              <a:ext uri="{FF2B5EF4-FFF2-40B4-BE49-F238E27FC236}">
                <a16:creationId xmlns:a16="http://schemas.microsoft.com/office/drawing/2014/main" id="{D9BA7DA9-A23F-4A53-8748-DF6CAFF0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f-text">
            <a:extLst xmlns:a="http://schemas.openxmlformats.org/drawingml/2006/main">
              <a:ext uri="{FF2B5EF4-FFF2-40B4-BE49-F238E27FC236}">
                <a16:creationId xmlns:a16="http://schemas.microsoft.com/office/drawing/2014/main" id="{3F2971ED-B717-44F7-A61D-F6EEDE30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大型语言模型（Large Language Model，LLM）是在海量文本数据上训练出来的神经网络，核心任务是预测序列中的下一个 token。</a:t>
            </a:r>
          </a:p>
        </p:txBody>
      </p:sp>
      <p:sp>
        <p:nvSpPr>
          <p:cNvPr id="5" name="cap-square">
            <a:extLst xmlns:a="http://schemas.openxmlformats.org/drawingml/2006/main">
              <a:ext uri="{FF2B5EF4-FFF2-40B4-BE49-F238E27FC236}">
                <a16:creationId xmlns:a16="http://schemas.microsoft.com/office/drawing/2014/main" id="{21B4828D-113B-45FD-B6BB-2FF75259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-title">
            <a:extLst xmlns:a="http://schemas.openxmlformats.org/drawingml/2006/main">
              <a:ext uri="{FF2B5EF4-FFF2-40B4-BE49-F238E27FC236}">
                <a16:creationId xmlns:a16="http://schemas.microsoft.com/office/drawing/2014/main" id="{64B4187C-91BF-483E-BBC3-59BAE22C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模型权重</a:t>
            </a:r>
          </a:p>
        </p:txBody>
      </p:sp>
      <p:sp>
        <p:nvSpPr>
          <p:cNvPr id="7" name="cap-desc">
            <a:extLst xmlns:a="http://schemas.openxmlformats.org/drawingml/2006/main">
              <a:ext uri="{FF2B5EF4-FFF2-40B4-BE49-F238E27FC236}">
                <a16:creationId xmlns:a16="http://schemas.microsoft.com/office/drawing/2014/main" id="{A119C1DE-3267-4893-AD09-1D5ED563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数十亿个数值参数，编码学到的语言与知识</a:t>
            </a:r>
          </a:p>
        </p:txBody>
      </p:sp>
      <p:sp>
        <p:nvSpPr>
          <p:cNvPr id="8" name="cap-square">
            <a:extLst xmlns:a="http://schemas.openxmlformats.org/drawingml/2006/main">
              <a:ext uri="{FF2B5EF4-FFF2-40B4-BE49-F238E27FC236}">
                <a16:creationId xmlns:a16="http://schemas.microsoft.com/office/drawing/2014/main" id="{CA2F3E1F-136D-45AA-A168-39BB4C07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p-title">
            <a:extLst xmlns:a="http://schemas.openxmlformats.org/drawingml/2006/main">
              <a:ext uri="{FF2B5EF4-FFF2-40B4-BE49-F238E27FC236}">
                <a16:creationId xmlns:a16="http://schemas.microsoft.com/office/drawing/2014/main" id="{CE2670DE-C575-400F-8948-A8DD7FCF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架构代码</a:t>
            </a:r>
          </a:p>
        </p:txBody>
      </p:sp>
      <p:sp>
        <p:nvSpPr>
          <p:cNvPr id="10" name="cap-desc">
            <a:extLst xmlns:a="http://schemas.openxmlformats.org/drawingml/2006/main">
              <a:ext uri="{FF2B5EF4-FFF2-40B4-BE49-F238E27FC236}">
                <a16:creationId xmlns:a16="http://schemas.microsoft.com/office/drawing/2014/main" id="{824177A9-43D4-4E10-BFE2-A6D32545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671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通常是 Transformer，用来运行权重生成输出</a:t>
            </a:r>
          </a:p>
        </p:txBody>
      </p:sp>
      <p:sp>
        <p:nvSpPr>
          <p:cNvPr id="11" name="cap-square">
            <a:extLst xmlns:a="http://schemas.openxmlformats.org/drawingml/2006/main">
              <a:ext uri="{FF2B5EF4-FFF2-40B4-BE49-F238E27FC236}">
                <a16:creationId xmlns:a16="http://schemas.microsoft.com/office/drawing/2014/main" id="{D11A1C8A-29ED-41E2-9607-7B5CF3D5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p-title">
            <a:extLst xmlns:a="http://schemas.openxmlformats.org/drawingml/2006/main">
              <a:ext uri="{FF2B5EF4-FFF2-40B4-BE49-F238E27FC236}">
                <a16:creationId xmlns:a16="http://schemas.microsoft.com/office/drawing/2014/main" id="{6C73558A-6904-4F47-B705-C2F9D477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语言生成式 AI</a:t>
            </a:r>
          </a:p>
        </p:txBody>
      </p:sp>
      <p:sp>
        <p:nvSpPr>
          <p:cNvPr id="13" name="cap-desc">
            <a:extLst xmlns:a="http://schemas.openxmlformats.org/drawingml/2006/main">
              <a:ext uri="{FF2B5EF4-FFF2-40B4-BE49-F238E27FC236}">
                <a16:creationId xmlns:a16="http://schemas.microsoft.com/office/drawing/2014/main" id="{B5B90CA3-4B5A-4890-A5C7-1EC50C4D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专注理解与生成人类语言的一类生成式模型</a:t>
            </a:r>
          </a:p>
        </p:txBody>
      </p:sp>
      <p:sp>
        <p:nvSpPr>
          <p:cNvPr id="14" name="cap-square">
            <a:extLst xmlns:a="http://schemas.openxmlformats.org/drawingml/2006/main">
              <a:ext uri="{FF2B5EF4-FFF2-40B4-BE49-F238E27FC236}">
                <a16:creationId xmlns:a16="http://schemas.microsoft.com/office/drawing/2014/main" id="{82B1EF9F-A3B0-4758-9524-691F1D29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p-title">
            <a:extLst xmlns:a="http://schemas.openxmlformats.org/drawingml/2006/main">
              <a:ext uri="{FF2B5EF4-FFF2-40B4-BE49-F238E27FC236}">
                <a16:creationId xmlns:a16="http://schemas.microsoft.com/office/drawing/2014/main" id="{2AC504E1-799B-495E-9879-6A33522F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深度学习的一种</a:t>
            </a:r>
          </a:p>
        </p:txBody>
      </p:sp>
      <p:sp>
        <p:nvSpPr>
          <p:cNvPr id="16" name="cap-desc">
            <a:extLst xmlns:a="http://schemas.openxmlformats.org/drawingml/2006/main">
              <a:ext uri="{FF2B5EF4-FFF2-40B4-BE49-F238E27FC236}">
                <a16:creationId xmlns:a16="http://schemas.microsoft.com/office/drawing/2014/main" id="{1689A441-8E84-4989-8014-C8208398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属于更广的机器学习 / 深度学习范畴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8011A48-B9C5-4FE4-8D81-D276CD71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大语言模型入门 · LLM 基础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C292743-CD92-49BA-8D51-3642788A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599888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8F629A6E-C14F-4BA2-8BDB-22BCF891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 · 什么是 LLM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321B70-83C3-4DBC-87C1-F60BD991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先理解三个关键概念</a:t>
            </a:r>
          </a:p>
        </p:txBody>
      </p:sp>
      <p:sp>
        <p:nvSpPr>
          <p:cNvPr id="3" name="concept-bar">
            <a:extLst xmlns:a="http://schemas.openxmlformats.org/drawingml/2006/main">
              <a:ext uri="{FF2B5EF4-FFF2-40B4-BE49-F238E27FC236}">
                <a16:creationId xmlns:a16="http://schemas.microsoft.com/office/drawing/2014/main" id="{7E739D92-57C5-48B8-9DFB-4011DBF1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term">
            <a:extLst xmlns:a="http://schemas.openxmlformats.org/drawingml/2006/main">
              <a:ext uri="{FF2B5EF4-FFF2-40B4-BE49-F238E27FC236}">
                <a16:creationId xmlns:a16="http://schemas.microsoft.com/office/drawing/2014/main" id="{47D0B463-6B2C-4E20-8D0F-74218DCB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Token（词元）</a:t>
            </a:r>
          </a:p>
        </p:txBody>
      </p:sp>
      <p:sp>
        <p:nvSpPr>
          <p:cNvPr id="5" name="concept-en">
            <a:extLst xmlns:a="http://schemas.openxmlformats.org/drawingml/2006/main">
              <a:ext uri="{FF2B5EF4-FFF2-40B4-BE49-F238E27FC236}">
                <a16:creationId xmlns:a16="http://schemas.microsoft.com/office/drawing/2014/main" id="{3797532E-644C-49F6-B987-B879FCF5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Token</a:t>
            </a:r>
          </a:p>
        </p:txBody>
      </p:sp>
      <p:sp>
        <p:nvSpPr>
          <p:cNvPr id="6" name="concept-desc">
            <a:extLst xmlns:a="http://schemas.openxmlformats.org/drawingml/2006/main">
              <a:ext uri="{FF2B5EF4-FFF2-40B4-BE49-F238E27FC236}">
                <a16:creationId xmlns:a16="http://schemas.microsoft.com/office/drawing/2014/main" id="{462EAEF2-FD39-412B-81B3-26246440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35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文本被切成的子词单位。模型完全在 token 的数字 ID 上运算，而不是字符。</a:t>
            </a:r>
          </a:p>
        </p:txBody>
      </p:sp>
      <p:sp>
        <p:nvSpPr>
          <p:cNvPr id="7" name="concept-note">
            <a:extLst xmlns:a="http://schemas.openxmlformats.org/drawingml/2006/main">
              <a:ext uri="{FF2B5EF4-FFF2-40B4-BE49-F238E27FC236}">
                <a16:creationId xmlns:a16="http://schemas.microsoft.com/office/drawing/2014/main" id="{65379A3C-5007-4C73-8160-30569227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例如：Token + ization</a:t>
            </a:r>
          </a:p>
        </p:txBody>
      </p:sp>
      <p:sp>
        <p:nvSpPr>
          <p:cNvPr id="8" name="concept-bar">
            <a:extLst xmlns:a="http://schemas.openxmlformats.org/drawingml/2006/main">
              <a:ext uri="{FF2B5EF4-FFF2-40B4-BE49-F238E27FC236}">
                <a16:creationId xmlns:a16="http://schemas.microsoft.com/office/drawing/2014/main" id="{19C67CE0-D136-49B4-AD14-151C8459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cept-term">
            <a:extLst xmlns:a="http://schemas.openxmlformats.org/drawingml/2006/main">
              <a:ext uri="{FF2B5EF4-FFF2-40B4-BE49-F238E27FC236}">
                <a16:creationId xmlns:a16="http://schemas.microsoft.com/office/drawing/2014/main" id="{A2E9609B-24A4-46A2-89D4-2B32C86F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上下文窗口</a:t>
            </a:r>
          </a:p>
        </p:txBody>
      </p:sp>
      <p:sp>
        <p:nvSpPr>
          <p:cNvPr id="10" name="concept-en">
            <a:extLst xmlns:a="http://schemas.openxmlformats.org/drawingml/2006/main">
              <a:ext uri="{FF2B5EF4-FFF2-40B4-BE49-F238E27FC236}">
                <a16:creationId xmlns:a16="http://schemas.microsoft.com/office/drawing/2014/main" id="{A84A8EF2-7384-443D-AE04-5AB53533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Context Window</a:t>
            </a:r>
          </a:p>
        </p:txBody>
      </p:sp>
      <p:sp>
        <p:nvSpPr>
          <p:cNvPr id="11" name="concept-desc">
            <a:extLst xmlns:a="http://schemas.openxmlformats.org/drawingml/2006/main">
              <a:ext uri="{FF2B5EF4-FFF2-40B4-BE49-F238E27FC236}">
                <a16:creationId xmlns:a16="http://schemas.microsoft.com/office/drawing/2014/main" id="{EE2D4409-30B3-4493-A433-A8880317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35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模型一次最多能处理的 token 数量，提示、历史与生成内容都要装进去。</a:t>
            </a:r>
          </a:p>
        </p:txBody>
      </p:sp>
      <p:sp>
        <p:nvSpPr>
          <p:cNvPr id="12" name="concept-note">
            <a:extLst xmlns:a="http://schemas.openxmlformats.org/drawingml/2006/main">
              <a:ext uri="{FF2B5EF4-FFF2-40B4-BE49-F238E27FC236}">
                <a16:creationId xmlns:a16="http://schemas.microsoft.com/office/drawing/2014/main" id="{D5A3EB1F-C715-41A0-BF61-6FFA790E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常见：128K、1M token</a:t>
            </a:r>
          </a:p>
        </p:txBody>
      </p:sp>
      <p:sp>
        <p:nvSpPr>
          <p:cNvPr id="13" name="concept-bar">
            <a:extLst xmlns:a="http://schemas.openxmlformats.org/drawingml/2006/main">
              <a:ext uri="{FF2B5EF4-FFF2-40B4-BE49-F238E27FC236}">
                <a16:creationId xmlns:a16="http://schemas.microsoft.com/office/drawing/2014/main" id="{EC6B01AB-A70E-4F80-A0C5-1B82932B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ncept-term">
            <a:extLst xmlns:a="http://schemas.openxmlformats.org/drawingml/2006/main">
              <a:ext uri="{FF2B5EF4-FFF2-40B4-BE49-F238E27FC236}">
                <a16:creationId xmlns:a16="http://schemas.microsoft.com/office/drawing/2014/main" id="{51D47FC4-80A8-479B-A00A-508E8833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自回归生成</a:t>
            </a:r>
          </a:p>
        </p:txBody>
      </p:sp>
      <p:sp>
        <p:nvSpPr>
          <p:cNvPr id="15" name="concept-en">
            <a:extLst xmlns:a="http://schemas.openxmlformats.org/drawingml/2006/main">
              <a:ext uri="{FF2B5EF4-FFF2-40B4-BE49-F238E27FC236}">
                <a16:creationId xmlns:a16="http://schemas.microsoft.com/office/drawing/2014/main" id="{218454EE-A388-4A1D-9284-FF23CBF2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Autoregressive</a:t>
            </a:r>
          </a:p>
        </p:txBody>
      </p:sp>
      <p:sp>
        <p:nvSpPr>
          <p:cNvPr id="16" name="concept-desc">
            <a:extLst xmlns:a="http://schemas.openxmlformats.org/drawingml/2006/main">
              <a:ext uri="{FF2B5EF4-FFF2-40B4-BE49-F238E27FC236}">
                <a16:creationId xmlns:a16="http://schemas.microsoft.com/office/drawing/2014/main" id="{1191F0C5-9E7A-4037-B99A-1E3EB334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335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一个 token 一个 token 地生成，每一步都参考之前所有 token。</a:t>
            </a:r>
          </a:p>
        </p:txBody>
      </p:sp>
      <p:sp>
        <p:nvSpPr>
          <p:cNvPr id="17" name="concept-note">
            <a:extLst xmlns:a="http://schemas.openxmlformats.org/drawingml/2006/main">
              <a:ext uri="{FF2B5EF4-FFF2-40B4-BE49-F238E27FC236}">
                <a16:creationId xmlns:a16="http://schemas.microsoft.com/office/drawing/2014/main" id="{550D97C2-A3F9-4E34-94F6-55B3DB96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05300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直到结束符或长度上限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BCAC1DA-01DD-4894-8634-FBCC134C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大语言模型入门 · LLM 基础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A77E613-433B-49AB-A063-9D0F8FFE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791482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6A0CB78D-A693-4B7F-AD3F-15577E80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 · 发展历史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3AAF500-B1D7-4812-B845-759FBD19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2017 年 Transformer 论文是一切的开端</a:t>
            </a:r>
          </a:p>
        </p:txBody>
      </p:sp>
      <p:sp>
        <p:nvSpPr>
          <p:cNvPr id="3" name="hist-bar">
            <a:extLst xmlns:a="http://schemas.openxmlformats.org/drawingml/2006/main">
              <a:ext uri="{FF2B5EF4-FFF2-40B4-BE49-F238E27FC236}">
                <a16:creationId xmlns:a16="http://schemas.microsoft.com/office/drawing/2014/main" id="{698864E4-D9D4-4BF5-9059-54D444EE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ist-name">
            <a:extLst xmlns:a="http://schemas.openxmlformats.org/drawingml/2006/main">
              <a:ext uri="{FF2B5EF4-FFF2-40B4-BE49-F238E27FC236}">
                <a16:creationId xmlns:a16="http://schemas.microsoft.com/office/drawing/2014/main" id="{E5C7CC30-6C73-4386-ABC5-DCC11670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架构奠基</a:t>
            </a:r>
          </a:p>
        </p:txBody>
      </p:sp>
      <p:sp>
        <p:nvSpPr>
          <p:cNvPr id="5" name="hist-years">
            <a:extLst xmlns:a="http://schemas.openxmlformats.org/drawingml/2006/main">
              <a:ext uri="{FF2B5EF4-FFF2-40B4-BE49-F238E27FC236}">
                <a16:creationId xmlns:a16="http://schemas.microsoft.com/office/drawing/2014/main" id="{CA4B436C-532A-4349-BBD9-E6EF6CF2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2017–2020</a:t>
            </a:r>
          </a:p>
        </p:txBody>
      </p:sp>
      <p:sp>
        <p:nvSpPr>
          <p:cNvPr id="6" name="hist-bullets">
            <a:extLst xmlns:a="http://schemas.openxmlformats.org/drawingml/2006/main">
              <a:ext uri="{FF2B5EF4-FFF2-40B4-BE49-F238E27FC236}">
                <a16:creationId xmlns:a16="http://schemas.microsoft.com/office/drawing/2014/main" id="{97E0C8F3-A190-4BE5-A155-39478506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352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2017 Transformer 论文发表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2018 GPT-1 与 BERT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2020 GPT-3、规模定律</a:t>
            </a:r>
          </a:p>
        </p:txBody>
      </p:sp>
      <p:sp>
        <p:nvSpPr>
          <p:cNvPr id="7" name="hist-bar">
            <a:extLst xmlns:a="http://schemas.openxmlformats.org/drawingml/2006/main">
              <a:ext uri="{FF2B5EF4-FFF2-40B4-BE49-F238E27FC236}">
                <a16:creationId xmlns:a16="http://schemas.microsoft.com/office/drawing/2014/main" id="{7B933DEB-43BF-4156-BFD4-5155508D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ist-name">
            <a:extLst xmlns:a="http://schemas.openxmlformats.org/drawingml/2006/main">
              <a:ext uri="{FF2B5EF4-FFF2-40B4-BE49-F238E27FC236}">
                <a16:creationId xmlns:a16="http://schemas.microsoft.com/office/drawing/2014/main" id="{236877A1-EA87-464D-B4F7-D79E08CE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大众爆发</a:t>
            </a:r>
          </a:p>
        </p:txBody>
      </p:sp>
      <p:sp>
        <p:nvSpPr>
          <p:cNvPr id="9" name="hist-years">
            <a:extLst xmlns:a="http://schemas.openxmlformats.org/drawingml/2006/main">
              <a:ext uri="{FF2B5EF4-FFF2-40B4-BE49-F238E27FC236}">
                <a16:creationId xmlns:a16="http://schemas.microsoft.com/office/drawing/2014/main" id="{A24D9F5C-B349-41B7-AA2A-4AD8BA7F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2022–2024</a:t>
            </a:r>
          </a:p>
        </p:txBody>
      </p:sp>
      <p:sp>
        <p:nvSpPr>
          <p:cNvPr id="10" name="hist-bullets">
            <a:extLst xmlns:a="http://schemas.openxmlformats.org/drawingml/2006/main">
              <a:ext uri="{FF2B5EF4-FFF2-40B4-BE49-F238E27FC236}">
                <a16:creationId xmlns:a16="http://schemas.microsoft.com/office/drawing/2014/main" id="{42401F01-2E92-4C3E-8BD6-58349B41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352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2022 ChatGPT 引爆大众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2023 GPT-4、Llama 2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2024 DeepSeek-V3</a:t>
            </a:r>
          </a:p>
        </p:txBody>
      </p:sp>
      <p:sp>
        <p:nvSpPr>
          <p:cNvPr id="11" name="hist-bar">
            <a:extLst xmlns:a="http://schemas.openxmlformats.org/drawingml/2006/main">
              <a:ext uri="{FF2B5EF4-FFF2-40B4-BE49-F238E27FC236}">
                <a16:creationId xmlns:a16="http://schemas.microsoft.com/office/drawing/2014/main" id="{ED7C9E81-938D-4386-8F34-CDFF855A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ist-name">
            <a:extLst xmlns:a="http://schemas.openxmlformats.org/drawingml/2006/main">
              <a:ext uri="{FF2B5EF4-FFF2-40B4-BE49-F238E27FC236}">
                <a16:creationId xmlns:a16="http://schemas.microsoft.com/office/drawing/2014/main" id="{A03875BF-F913-4CB9-9E06-13A499DA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推理与 Agent</a:t>
            </a:r>
          </a:p>
        </p:txBody>
      </p:sp>
      <p:sp>
        <p:nvSpPr>
          <p:cNvPr id="13" name="hist-years">
            <a:extLst xmlns:a="http://schemas.openxmlformats.org/drawingml/2006/main">
              <a:ext uri="{FF2B5EF4-FFF2-40B4-BE49-F238E27FC236}">
                <a16:creationId xmlns:a16="http://schemas.microsoft.com/office/drawing/2014/main" id="{BD82CBFE-1248-4067-A100-F1C564A6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2025–至今</a:t>
            </a:r>
          </a:p>
        </p:txBody>
      </p:sp>
      <p:sp>
        <p:nvSpPr>
          <p:cNvPr id="14" name="hist-bullets">
            <a:extLst xmlns:a="http://schemas.openxmlformats.org/drawingml/2006/main">
              <a:ext uri="{FF2B5EF4-FFF2-40B4-BE49-F238E27FC236}">
                <a16:creationId xmlns:a16="http://schemas.microsoft.com/office/drawing/2014/main" id="{6E260ADB-8EB6-4AD7-8D6F-7E449EF8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3352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2025 DeepSeek-R1、GPT-5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Claude Opus 4、Llama 4、Gemini 3 Pro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多模态与智能体加速落地</a:t>
            </a:r>
          </a:p>
        </p:txBody>
      </p:sp>
      <p:sp>
        <p:nvSpPr>
          <p:cNvPr id="15" name="hist-note">
            <a:extLst xmlns:a="http://schemas.openxmlformats.org/drawingml/2006/main">
              <a:ext uri="{FF2B5EF4-FFF2-40B4-BE49-F238E27FC236}">
                <a16:creationId xmlns:a16="http://schemas.microsoft.com/office/drawing/2014/main" id="{0E59A58F-9391-4459-996F-0C7B4873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整体脉络：预训练让模型学会语言 → ChatGPT 让 LLM 走向大众 → 强化学习让它学会“先思考再回答”。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13DECAC-1C37-410C-8DB8-60D16F3F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大语言模型入门 · LLM 基础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C5FEFF2-64F9-40BC-ACCB-94FA1853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002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7D031FFE-82BF-439E-AE34-B5F1A10F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03 · 算法原理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0AF22F-38A7-4324-85C4-FF316328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核心是 Transformer 的自注意力机制</a:t>
            </a:r>
          </a:p>
        </p:txBody>
      </p:sp>
      <p:sp>
        <p:nvSpPr>
          <p:cNvPr id="3" name="attn-panel">
            <a:extLst xmlns:a="http://schemas.openxmlformats.org/drawingml/2006/main">
              <a:ext uri="{FF2B5EF4-FFF2-40B4-BE49-F238E27FC236}">
                <a16:creationId xmlns:a16="http://schemas.microsoft.com/office/drawing/2014/main" id="{C2D94DB0-1D2B-41E4-B4CC-CC7BEFE5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ttn-text">
            <a:extLst xmlns:a="http://schemas.openxmlformats.org/drawingml/2006/main">
              <a:ext uri="{FF2B5EF4-FFF2-40B4-BE49-F238E27FC236}">
                <a16:creationId xmlns:a16="http://schemas.microsoft.com/office/drawing/2014/main" id="{FCD46A0D-32CA-426D-99B5-6B3AADD6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自注意力让每个词都能参考整句话的上下文，从而捕捉长距离依赖——这是 Transformer 区别于传统循环神经网络的关键。</a:t>
            </a:r>
          </a:p>
        </p:txBody>
      </p:sp>
      <p:sp>
        <p:nvSpPr>
          <p:cNvPr id="5" name="tf-square">
            <a:extLst xmlns:a="http://schemas.openxmlformats.org/drawingml/2006/main">
              <a:ext uri="{FF2B5EF4-FFF2-40B4-BE49-F238E27FC236}">
                <a16:creationId xmlns:a16="http://schemas.microsoft.com/office/drawing/2014/main" id="{5F0ED589-BB3B-4A8E-A521-1579E795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f-title">
            <a:extLst xmlns:a="http://schemas.openxmlformats.org/drawingml/2006/main">
              <a:ext uri="{FF2B5EF4-FFF2-40B4-BE49-F238E27FC236}">
                <a16:creationId xmlns:a16="http://schemas.microsoft.com/office/drawing/2014/main" id="{08469A63-5A60-4582-8120-0F04E1AD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自注意力 Self-Attention</a:t>
            </a:r>
          </a:p>
        </p:txBody>
      </p:sp>
      <p:sp>
        <p:nvSpPr>
          <p:cNvPr id="7" name="tf-desc">
            <a:extLst xmlns:a="http://schemas.openxmlformats.org/drawingml/2006/main">
              <a:ext uri="{FF2B5EF4-FFF2-40B4-BE49-F238E27FC236}">
                <a16:creationId xmlns:a16="http://schemas.microsoft.com/office/drawing/2014/main" id="{1703D048-5799-44DF-87F9-E5119902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理解一个词时，加权关注句中所有词</a:t>
            </a:r>
          </a:p>
        </p:txBody>
      </p:sp>
      <p:sp>
        <p:nvSpPr>
          <p:cNvPr id="8" name="tf-square">
            <a:extLst xmlns:a="http://schemas.openxmlformats.org/drawingml/2006/main">
              <a:ext uri="{FF2B5EF4-FFF2-40B4-BE49-F238E27FC236}">
                <a16:creationId xmlns:a16="http://schemas.microsoft.com/office/drawing/2014/main" id="{871AECEE-98C8-483F-8F0D-DE1B858F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f-title">
            <a:extLst xmlns:a="http://schemas.openxmlformats.org/drawingml/2006/main">
              <a:ext uri="{FF2B5EF4-FFF2-40B4-BE49-F238E27FC236}">
                <a16:creationId xmlns:a16="http://schemas.microsoft.com/office/drawing/2014/main" id="{A634B734-524A-4BE9-890E-C83CF1D9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多头注意力 Multi-Head</a:t>
            </a:r>
          </a:p>
        </p:txBody>
      </p:sp>
      <p:sp>
        <p:nvSpPr>
          <p:cNvPr id="10" name="tf-desc">
            <a:extLst xmlns:a="http://schemas.openxmlformats.org/drawingml/2006/main">
              <a:ext uri="{FF2B5EF4-FFF2-40B4-BE49-F238E27FC236}">
                <a16:creationId xmlns:a16="http://schemas.microsoft.com/office/drawing/2014/main" id="{B556C535-F805-410B-B398-3842FD71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147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用多组注意力从不同角度理解语义</a:t>
            </a:r>
          </a:p>
        </p:txBody>
      </p:sp>
      <p:sp>
        <p:nvSpPr>
          <p:cNvPr id="11" name="tf-square">
            <a:extLst xmlns:a="http://schemas.openxmlformats.org/drawingml/2006/main">
              <a:ext uri="{FF2B5EF4-FFF2-40B4-BE49-F238E27FC236}">
                <a16:creationId xmlns:a16="http://schemas.microsoft.com/office/drawing/2014/main" id="{DFBADCE0-0713-45CC-9FBF-96B313B5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f-title">
            <a:extLst xmlns:a="http://schemas.openxmlformats.org/drawingml/2006/main">
              <a:ext uri="{FF2B5EF4-FFF2-40B4-BE49-F238E27FC236}">
                <a16:creationId xmlns:a16="http://schemas.microsoft.com/office/drawing/2014/main" id="{E29C6635-E979-4621-9673-27725391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前馈网络 FFN</a:t>
            </a:r>
          </a:p>
        </p:txBody>
      </p:sp>
      <p:sp>
        <p:nvSpPr>
          <p:cNvPr id="13" name="tf-desc">
            <a:extLst xmlns:a="http://schemas.openxmlformats.org/drawingml/2006/main">
              <a:ext uri="{FF2B5EF4-FFF2-40B4-BE49-F238E27FC236}">
                <a16:creationId xmlns:a16="http://schemas.microsoft.com/office/drawing/2014/main" id="{F11DCCC8-2821-4569-93EC-6DB260FC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对每个位置做非线性变换，存储大量知识</a:t>
            </a:r>
          </a:p>
        </p:txBody>
      </p:sp>
      <p:sp>
        <p:nvSpPr>
          <p:cNvPr id="14" name="tf-square">
            <a:extLst xmlns:a="http://schemas.openxmlformats.org/drawingml/2006/main">
              <a:ext uri="{FF2B5EF4-FFF2-40B4-BE49-F238E27FC236}">
                <a16:creationId xmlns:a16="http://schemas.microsoft.com/office/drawing/2014/main" id="{53D1E907-6F02-4EBF-A75C-488E5315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f-title">
            <a:extLst xmlns:a="http://schemas.openxmlformats.org/drawingml/2006/main">
              <a:ext uri="{FF2B5EF4-FFF2-40B4-BE49-F238E27FC236}">
                <a16:creationId xmlns:a16="http://schemas.microsoft.com/office/drawing/2014/main" id="{7C62A555-429E-4B4C-9755-8F04A2F8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位置编码 Positional Encoding</a:t>
            </a:r>
          </a:p>
        </p:txBody>
      </p:sp>
      <p:sp>
        <p:nvSpPr>
          <p:cNvPr id="16" name="tf-desc">
            <a:extLst xmlns:a="http://schemas.openxmlformats.org/drawingml/2006/main">
              <a:ext uri="{FF2B5EF4-FFF2-40B4-BE49-F238E27FC236}">
                <a16:creationId xmlns:a16="http://schemas.microsoft.com/office/drawing/2014/main" id="{E6736741-7C4A-4C42-A821-5E0AE223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告诉模型 token 的先后顺序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A592055-C7D6-448B-A23C-B7D47315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大语言模型入门 · LLM 基础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1004852-851E-49C8-9818-DB22D3CE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254555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89D16A9-6C35-4394-92C2-3E77676E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03 · 算法原理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A28C74A-658A-492B-A3EF-9B5EAEBE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训练一般经历四个阶段</a:t>
            </a:r>
          </a:p>
        </p:txBody>
      </p:sp>
      <p:sp>
        <p:nvSpPr>
          <p:cNvPr id="3" name="train-num">
            <a:extLst xmlns:a="http://schemas.openxmlformats.org/drawingml/2006/main">
              <a:ext uri="{FF2B5EF4-FFF2-40B4-BE49-F238E27FC236}">
                <a16:creationId xmlns:a16="http://schemas.microsoft.com/office/drawing/2014/main" id="{AB56D66B-5CEB-4907-9681-9A4851D2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rain-title">
            <a:extLst xmlns:a="http://schemas.openxmlformats.org/drawingml/2006/main">
              <a:ext uri="{FF2B5EF4-FFF2-40B4-BE49-F238E27FC236}">
                <a16:creationId xmlns:a16="http://schemas.microsoft.com/office/drawing/2014/main" id="{7CC8029D-1067-4C69-B917-CA2832C0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预训练 Pre-training</a:t>
            </a:r>
          </a:p>
        </p:txBody>
      </p:sp>
      <p:sp>
        <p:nvSpPr>
          <p:cNvPr id="5" name="train-desc">
            <a:extLst xmlns:a="http://schemas.openxmlformats.org/drawingml/2006/main">
              <a:ext uri="{FF2B5EF4-FFF2-40B4-BE49-F238E27FC236}">
                <a16:creationId xmlns:a16="http://schemas.microsoft.com/office/drawing/2014/main" id="{59F74EF6-585A-46FB-AA40-432E2228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在海量文本上做“下一个 token 预测”，学会语法、语义与世界知识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C2E18BAD-77CD-4514-8A49-3DC27A7E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ain-num">
            <a:extLst xmlns:a="http://schemas.openxmlformats.org/drawingml/2006/main">
              <a:ext uri="{FF2B5EF4-FFF2-40B4-BE49-F238E27FC236}">
                <a16:creationId xmlns:a16="http://schemas.microsoft.com/office/drawing/2014/main" id="{B5EFBE9D-9289-4E4A-A037-371E6F8E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rain-title">
            <a:extLst xmlns:a="http://schemas.openxmlformats.org/drawingml/2006/main">
              <a:ext uri="{FF2B5EF4-FFF2-40B4-BE49-F238E27FC236}">
                <a16:creationId xmlns:a16="http://schemas.microsoft.com/office/drawing/2014/main" id="{D71E023F-FF15-4452-88B5-2ABC2BE6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95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监督微调 SFT</a:t>
            </a:r>
          </a:p>
        </p:txBody>
      </p:sp>
      <p:sp>
        <p:nvSpPr>
          <p:cNvPr id="9" name="train-desc">
            <a:extLst xmlns:a="http://schemas.openxmlformats.org/drawingml/2006/main">
              <a:ext uri="{FF2B5EF4-FFF2-40B4-BE49-F238E27FC236}">
                <a16:creationId xmlns:a16="http://schemas.microsoft.com/office/drawing/2014/main" id="{4691DF46-4088-4C6E-A942-785BDD66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用人工编写的优质问答示例，教会模型当好助手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EF83CF56-D998-4A83-943D-F6C174A9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ain-num">
            <a:extLst xmlns:a="http://schemas.openxmlformats.org/drawingml/2006/main">
              <a:ext uri="{FF2B5EF4-FFF2-40B4-BE49-F238E27FC236}">
                <a16:creationId xmlns:a16="http://schemas.microsoft.com/office/drawing/2014/main" id="{565D6AD4-9EC3-4694-AF11-C7AEAC56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rain-title">
            <a:extLst xmlns:a="http://schemas.openxmlformats.org/drawingml/2006/main">
              <a:ext uri="{FF2B5EF4-FFF2-40B4-BE49-F238E27FC236}">
                <a16:creationId xmlns:a16="http://schemas.microsoft.com/office/drawing/2014/main" id="{1AB7E01E-8C13-4642-A632-1157C4EF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对齐 RLHF / DPO</a:t>
            </a:r>
          </a:p>
        </p:txBody>
      </p:sp>
      <p:sp>
        <p:nvSpPr>
          <p:cNvPr id="13" name="train-desc">
            <a:extLst xmlns:a="http://schemas.openxmlformats.org/drawingml/2006/main">
              <a:ext uri="{FF2B5EF4-FFF2-40B4-BE49-F238E27FC236}">
                <a16:creationId xmlns:a16="http://schemas.microsoft.com/office/drawing/2014/main" id="{427B022B-9ACA-41C0-BA12-6CB8ECE0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按人类偏好调整输出，让它更有用、诚实、安全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95D2DFBE-8EB7-4982-8BE1-3C76691D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ain-num">
            <a:extLst xmlns:a="http://schemas.openxmlformats.org/drawingml/2006/main">
              <a:ext uri="{FF2B5EF4-FFF2-40B4-BE49-F238E27FC236}">
                <a16:creationId xmlns:a16="http://schemas.microsoft.com/office/drawing/2014/main" id="{E9AF558D-9ECC-4969-95B3-3D60787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train-title">
            <a:extLst xmlns:a="http://schemas.openxmlformats.org/drawingml/2006/main">
              <a:ext uri="{FF2B5EF4-FFF2-40B4-BE49-F238E27FC236}">
                <a16:creationId xmlns:a16="http://schemas.microsoft.com/office/drawing/2014/main" id="{F08C1EDA-F5D3-4247-ABBE-FABFAD79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推理增强 Reasoning</a:t>
            </a:r>
          </a:p>
        </p:txBody>
      </p:sp>
      <p:sp>
        <p:nvSpPr>
          <p:cNvPr id="17" name="train-desc">
            <a:extLst xmlns:a="http://schemas.openxmlformats.org/drawingml/2006/main">
              <a:ext uri="{FF2B5EF4-FFF2-40B4-BE49-F238E27FC236}">
                <a16:creationId xmlns:a16="http://schemas.microsoft.com/office/drawing/2014/main" id="{77C74BD0-3C61-4318-AD82-828948EC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用强化学习让模型在回答前“先思考”，逐步推理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29B7BB4-91D6-424D-AD1E-4F26E9C1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大语言模型入门 · LLM 基础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413D9C7-1E37-4B5F-AF02-13AB6540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58067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D712B218-F9E4-4BBE-8CA3-5DD3D337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03 · 算法原理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5FE506E-B461-4744-AA5F-E456640C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推理时它如何“说出”每一个词</a:t>
            </a:r>
          </a:p>
        </p:txBody>
      </p:sp>
      <p:sp>
        <p:nvSpPr>
          <p:cNvPr id="3" name="inf-bar">
            <a:extLst xmlns:a="http://schemas.openxmlformats.org/drawingml/2006/main">
              <a:ext uri="{FF2B5EF4-FFF2-40B4-BE49-F238E27FC236}">
                <a16:creationId xmlns:a16="http://schemas.microsoft.com/office/drawing/2014/main" id="{C91EAD6D-5A25-4FD4-919D-C0CC1660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f-term">
            <a:extLst xmlns:a="http://schemas.openxmlformats.org/drawingml/2006/main">
              <a:ext uri="{FF2B5EF4-FFF2-40B4-BE49-F238E27FC236}">
                <a16:creationId xmlns:a16="http://schemas.microsoft.com/office/drawing/2014/main" id="{CBA5B4E1-5B11-4304-814F-3557F3DB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逐 token 生成</a:t>
            </a:r>
          </a:p>
        </p:txBody>
      </p:sp>
      <p:sp>
        <p:nvSpPr>
          <p:cNvPr id="5" name="inf-desc">
            <a:extLst xmlns:a="http://schemas.openxmlformats.org/drawingml/2006/main">
              <a:ext uri="{FF2B5EF4-FFF2-40B4-BE49-F238E27FC236}">
                <a16:creationId xmlns:a16="http://schemas.microsoft.com/office/drawing/2014/main" id="{B5E7BACD-7FFC-413F-9371-16DC98AA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35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模型每次预测下一个最可能的 token，拼到已有序列后继续，直到生成结束符或达到长度上限。</a:t>
            </a:r>
          </a:p>
        </p:txBody>
      </p:sp>
      <p:sp>
        <p:nvSpPr>
          <p:cNvPr id="6" name="inf-bar">
            <a:extLst xmlns:a="http://schemas.openxmlformats.org/drawingml/2006/main">
              <a:ext uri="{FF2B5EF4-FFF2-40B4-BE49-F238E27FC236}">
                <a16:creationId xmlns:a16="http://schemas.microsoft.com/office/drawing/2014/main" id="{8584673D-257F-4357-BFC0-96B0666D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f-term">
            <a:extLst xmlns:a="http://schemas.openxmlformats.org/drawingml/2006/main">
              <a:ext uri="{FF2B5EF4-FFF2-40B4-BE49-F238E27FC236}">
                <a16:creationId xmlns:a16="http://schemas.microsoft.com/office/drawing/2014/main" id="{77D1C536-09FD-46D1-9B62-E583BBE6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采样参数</a:t>
            </a:r>
          </a:p>
        </p:txBody>
      </p:sp>
      <p:sp>
        <p:nvSpPr>
          <p:cNvPr id="8" name="inf-desc">
            <a:extLst xmlns:a="http://schemas.openxmlformats.org/drawingml/2006/main">
              <a:ext uri="{FF2B5EF4-FFF2-40B4-BE49-F238E27FC236}">
                <a16:creationId xmlns:a16="http://schemas.microsoft.com/office/drawing/2014/main" id="{BF367E32-736B-4B32-A1AA-B1107048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335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temperature 控制随机性；top-p / top-k 用来筛选候选 token，从而在稳定与创意之间取舍。</a:t>
            </a:r>
          </a:p>
        </p:txBody>
      </p:sp>
      <p:sp>
        <p:nvSpPr>
          <p:cNvPr id="9" name="inf-bar">
            <a:extLst xmlns:a="http://schemas.openxmlformats.org/drawingml/2006/main">
              <a:ext uri="{FF2B5EF4-FFF2-40B4-BE49-F238E27FC236}">
                <a16:creationId xmlns:a16="http://schemas.microsoft.com/office/drawing/2014/main" id="{8AF63DBD-2F26-4769-9611-7E0E1FC4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f-term">
            <a:extLst xmlns:a="http://schemas.openxmlformats.org/drawingml/2006/main">
              <a:ext uri="{FF2B5EF4-FFF2-40B4-BE49-F238E27FC236}">
                <a16:creationId xmlns:a16="http://schemas.microsoft.com/office/drawing/2014/main" id="{77DDF6D2-A998-4D89-8DB3-BF1565E1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加速与限制</a:t>
            </a:r>
          </a:p>
        </p:txBody>
      </p:sp>
      <p:sp>
        <p:nvSpPr>
          <p:cNvPr id="11" name="inf-desc">
            <a:extLst xmlns:a="http://schemas.openxmlformats.org/drawingml/2006/main">
              <a:ext uri="{FF2B5EF4-FFF2-40B4-BE49-F238E27FC236}">
                <a16:creationId xmlns:a16="http://schemas.microsoft.com/office/drawing/2014/main" id="{7257C3E0-597F-479D-90AF-C3E68B9B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335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KV 缓存避免重复计算；上下文窗口决定模型的“工作记忆”上限，超过就会被截断。</a:t>
            </a:r>
          </a:p>
        </p:txBody>
      </p:sp>
      <p:sp>
        <p:nvSpPr>
          <p:cNvPr id="12" name="inf-note">
            <a:extLst xmlns:a="http://schemas.openxmlformats.org/drawingml/2006/main">
              <a:ext uri="{FF2B5EF4-FFF2-40B4-BE49-F238E27FC236}">
                <a16:creationId xmlns:a16="http://schemas.microsoft.com/office/drawing/2014/main" id="{50E51AA0-C0EF-4545-A24D-AC704726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因此，LLM 的本质是“根据上下文预测下一个词”：说得好听叫语言能力，落到实处就是一个巨大的概率模型。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5793906-0953-40C6-A501-F4010B60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大语言模型入门 · LLM 基础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FD46B82-5E67-44B1-BB1C-195F48E2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119205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3FF20073-3052-45A4-947F-D2DA3BE6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04 · 公司与产品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B9F5EA-EAD0-455B-85BF-93371813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国际与国内厂商并行竞争</a:t>
            </a:r>
          </a:p>
        </p:txBody>
      </p:sp>
      <p:sp>
        <p:nvSpPr>
          <p:cNvPr id="3" name="co-h-intl">
            <a:extLst xmlns:a="http://schemas.openxmlformats.org/drawingml/2006/main">
              <a:ext uri="{FF2B5EF4-FFF2-40B4-BE49-F238E27FC236}">
                <a16:creationId xmlns:a16="http://schemas.microsoft.com/office/drawing/2014/main" id="{2A6A9015-2F52-4B54-8BF2-1DFBD342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国际厂商</a:t>
            </a:r>
          </a:p>
        </p:txBody>
      </p:sp>
      <p:sp>
        <p:nvSpPr>
          <p:cNvPr id="4" name="co-h-cn">
            <a:extLst xmlns:a="http://schemas.openxmlformats.org/drawingml/2006/main">
              <a:ext uri="{FF2B5EF4-FFF2-40B4-BE49-F238E27FC236}">
                <a16:creationId xmlns:a16="http://schemas.microsoft.com/office/drawing/2014/main" id="{D1547E1F-7AD8-430B-9674-4F83135E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国内厂商</a:t>
            </a:r>
          </a:p>
        </p:txBody>
      </p:sp>
      <p:sp>
        <p:nvSpPr>
          <p:cNvPr id="5" name="co-name">
            <a:extLst xmlns:a="http://schemas.openxmlformats.org/drawingml/2006/main">
              <a:ext uri="{FF2B5EF4-FFF2-40B4-BE49-F238E27FC236}">
                <a16:creationId xmlns:a16="http://schemas.microsoft.com/office/drawing/2014/main" id="{9DD747C9-25D0-4C6C-AFBF-52AB3034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6" name="co-desc">
            <a:extLst xmlns:a="http://schemas.openxmlformats.org/drawingml/2006/main">
              <a:ext uri="{FF2B5EF4-FFF2-40B4-BE49-F238E27FC236}">
                <a16:creationId xmlns:a16="http://schemas.microsoft.com/office/drawing/2014/main" id="{A6E0690E-7D0C-40BA-94FC-A09F9EB8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38350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GPT 系列 / ChatGPT / o 系列</a:t>
            </a:r>
          </a:p>
        </p:txBody>
      </p:sp>
      <p:sp>
        <p:nvSpPr>
          <p:cNvPr id="7" name="co-name">
            <a:extLst xmlns:a="http://schemas.openxmlformats.org/drawingml/2006/main">
              <a:ext uri="{FF2B5EF4-FFF2-40B4-BE49-F238E27FC236}">
                <a16:creationId xmlns:a16="http://schemas.microsoft.com/office/drawing/2014/main" id="{63B13B54-FE9D-4227-9E8F-CB1D0CAB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阿里巴巴</a:t>
            </a:r>
          </a:p>
        </p:txBody>
      </p:sp>
      <p:sp>
        <p:nvSpPr>
          <p:cNvPr id="8" name="co-desc">
            <a:extLst xmlns:a="http://schemas.openxmlformats.org/drawingml/2006/main">
              <a:ext uri="{FF2B5EF4-FFF2-40B4-BE49-F238E27FC236}">
                <a16:creationId xmlns:a16="http://schemas.microsoft.com/office/drawing/2014/main" id="{54D0C65F-00E6-4424-9B91-793370AA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通义千问 Qwen</a:t>
            </a:r>
          </a:p>
        </p:txBody>
      </p:sp>
      <p:sp>
        <p:nvSpPr>
          <p:cNvPr id="9" name="co-name">
            <a:extLst xmlns:a="http://schemas.openxmlformats.org/drawingml/2006/main">
              <a:ext uri="{FF2B5EF4-FFF2-40B4-BE49-F238E27FC236}">
                <a16:creationId xmlns:a16="http://schemas.microsoft.com/office/drawing/2014/main" id="{B71DE21F-F56E-46C5-AF34-5FF8F90B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Anthropic</a:t>
            </a:r>
          </a:p>
        </p:txBody>
      </p:sp>
      <p:sp>
        <p:nvSpPr>
          <p:cNvPr id="10" name="co-desc">
            <a:extLst xmlns:a="http://schemas.openxmlformats.org/drawingml/2006/main">
              <a:ext uri="{FF2B5EF4-FFF2-40B4-BE49-F238E27FC236}">
                <a16:creationId xmlns:a16="http://schemas.microsoft.com/office/drawing/2014/main" id="{D7F06CD9-2580-4738-B264-472B9FC5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33650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Claude 系列 / Claude Code</a:t>
            </a:r>
          </a:p>
        </p:txBody>
      </p:sp>
      <p:sp>
        <p:nvSpPr>
          <p:cNvPr id="11" name="co-name">
            <a:extLst xmlns:a="http://schemas.openxmlformats.org/drawingml/2006/main">
              <a:ext uri="{FF2B5EF4-FFF2-40B4-BE49-F238E27FC236}">
                <a16:creationId xmlns:a16="http://schemas.microsoft.com/office/drawing/2014/main" id="{99FE4615-8A9E-44DD-A08F-EB9DBE6D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百度</a:t>
            </a:r>
          </a:p>
        </p:txBody>
      </p:sp>
      <p:sp>
        <p:nvSpPr>
          <p:cNvPr id="12" name="co-desc">
            <a:extLst xmlns:a="http://schemas.openxmlformats.org/drawingml/2006/main">
              <a:ext uri="{FF2B5EF4-FFF2-40B4-BE49-F238E27FC236}">
                <a16:creationId xmlns:a16="http://schemas.microsoft.com/office/drawing/2014/main" id="{6FEC6760-A920-417A-B302-92CAE0F0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文心 ERNIE</a:t>
            </a:r>
          </a:p>
        </p:txBody>
      </p:sp>
      <p:sp>
        <p:nvSpPr>
          <p:cNvPr id="13" name="co-name">
            <a:extLst xmlns:a="http://schemas.openxmlformats.org/drawingml/2006/main">
              <a:ext uri="{FF2B5EF4-FFF2-40B4-BE49-F238E27FC236}">
                <a16:creationId xmlns:a16="http://schemas.microsoft.com/office/drawing/2014/main" id="{F4ABA530-7568-4D64-8F50-F0DF237C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Google DeepMind</a:t>
            </a:r>
          </a:p>
        </p:txBody>
      </p:sp>
      <p:sp>
        <p:nvSpPr>
          <p:cNvPr id="14" name="co-desc">
            <a:extLst xmlns:a="http://schemas.openxmlformats.org/drawingml/2006/main">
              <a:ext uri="{FF2B5EF4-FFF2-40B4-BE49-F238E27FC236}">
                <a16:creationId xmlns:a16="http://schemas.microsoft.com/office/drawing/2014/main" id="{27D47C8A-E5A7-4C29-B72B-0351121F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28950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Gemini 系列</a:t>
            </a:r>
          </a:p>
        </p:txBody>
      </p:sp>
      <p:sp>
        <p:nvSpPr>
          <p:cNvPr id="15" name="co-name">
            <a:extLst xmlns:a="http://schemas.openxmlformats.org/drawingml/2006/main">
              <a:ext uri="{FF2B5EF4-FFF2-40B4-BE49-F238E27FC236}">
                <a16:creationId xmlns:a16="http://schemas.microsoft.com/office/drawing/2014/main" id="{B5D47A6D-63BC-449B-AAB9-ACFBE256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腾讯</a:t>
            </a:r>
          </a:p>
        </p:txBody>
      </p:sp>
      <p:sp>
        <p:nvSpPr>
          <p:cNvPr id="16" name="co-desc">
            <a:extLst xmlns:a="http://schemas.openxmlformats.org/drawingml/2006/main">
              <a:ext uri="{FF2B5EF4-FFF2-40B4-BE49-F238E27FC236}">
                <a16:creationId xmlns:a16="http://schemas.microsoft.com/office/drawing/2014/main" id="{4C016C6A-301B-4CBF-8235-DCF59AED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混元 Hunyuan</a:t>
            </a:r>
          </a:p>
        </p:txBody>
      </p:sp>
      <p:sp>
        <p:nvSpPr>
          <p:cNvPr id="17" name="co-name">
            <a:extLst xmlns:a="http://schemas.openxmlformats.org/drawingml/2006/main">
              <a:ext uri="{FF2B5EF4-FFF2-40B4-BE49-F238E27FC236}">
                <a16:creationId xmlns:a16="http://schemas.microsoft.com/office/drawing/2014/main" id="{EDA3C496-DCB6-43E4-AB0D-62F29899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Meta</a:t>
            </a:r>
          </a:p>
        </p:txBody>
      </p:sp>
      <p:sp>
        <p:nvSpPr>
          <p:cNvPr id="18" name="co-desc">
            <a:extLst xmlns:a="http://schemas.openxmlformats.org/drawingml/2006/main">
              <a:ext uri="{FF2B5EF4-FFF2-40B4-BE49-F238E27FC236}">
                <a16:creationId xmlns:a16="http://schemas.microsoft.com/office/drawing/2014/main" id="{14408761-197A-4BBF-83DF-A193F031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Llama 系列（开源）</a:t>
            </a:r>
          </a:p>
        </p:txBody>
      </p:sp>
      <p:sp>
        <p:nvSpPr>
          <p:cNvPr id="19" name="co-name">
            <a:extLst xmlns:a="http://schemas.openxmlformats.org/drawingml/2006/main">
              <a:ext uri="{FF2B5EF4-FFF2-40B4-BE49-F238E27FC236}">
                <a16:creationId xmlns:a16="http://schemas.microsoft.com/office/drawing/2014/main" id="{1C5E52AF-2E2D-453F-B148-6485B930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字节跳动</a:t>
            </a:r>
          </a:p>
        </p:txBody>
      </p:sp>
      <p:sp>
        <p:nvSpPr>
          <p:cNvPr id="20" name="co-desc">
            <a:extLst xmlns:a="http://schemas.openxmlformats.org/drawingml/2006/main">
              <a:ext uri="{FF2B5EF4-FFF2-40B4-BE49-F238E27FC236}">
                <a16:creationId xmlns:a16="http://schemas.microsoft.com/office/drawing/2014/main" id="{E8E68F47-E3C1-4CDC-826F-60184978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豆包 / Seed</a:t>
            </a:r>
          </a:p>
        </p:txBody>
      </p:sp>
      <p:sp>
        <p:nvSpPr>
          <p:cNvPr id="21" name="co-name">
            <a:extLst xmlns:a="http://schemas.openxmlformats.org/drawingml/2006/main">
              <a:ext uri="{FF2B5EF4-FFF2-40B4-BE49-F238E27FC236}">
                <a16:creationId xmlns:a16="http://schemas.microsoft.com/office/drawing/2014/main" id="{8052C021-8161-4642-830D-8AECBA8C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xAI</a:t>
            </a:r>
          </a:p>
        </p:txBody>
      </p:sp>
      <p:sp>
        <p:nvSpPr>
          <p:cNvPr id="22" name="co-desc">
            <a:extLst xmlns:a="http://schemas.openxmlformats.org/drawingml/2006/main">
              <a:ext uri="{FF2B5EF4-FFF2-40B4-BE49-F238E27FC236}">
                <a16:creationId xmlns:a16="http://schemas.microsoft.com/office/drawing/2014/main" id="{D5F03D94-959D-44DC-AE8D-F60DDF69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19550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Grok</a:t>
            </a:r>
          </a:p>
        </p:txBody>
      </p:sp>
      <p:sp>
        <p:nvSpPr>
          <p:cNvPr id="23" name="co-name">
            <a:extLst xmlns:a="http://schemas.openxmlformats.org/drawingml/2006/main">
              <a:ext uri="{FF2B5EF4-FFF2-40B4-BE49-F238E27FC236}">
                <a16:creationId xmlns:a16="http://schemas.microsoft.com/office/drawing/2014/main" id="{F8BC7D93-AC82-4B6F-9538-451B6829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9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智谱 AI</a:t>
            </a:r>
          </a:p>
        </p:txBody>
      </p:sp>
      <p:sp>
        <p:nvSpPr>
          <p:cNvPr id="24" name="co-desc">
            <a:extLst xmlns:a="http://schemas.openxmlformats.org/drawingml/2006/main">
              <a:ext uri="{FF2B5EF4-FFF2-40B4-BE49-F238E27FC236}">
                <a16:creationId xmlns:a16="http://schemas.microsoft.com/office/drawing/2014/main" id="{BCDC7E37-7B62-4B54-9627-B31C8AC3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GLM / 智谱清言</a:t>
            </a:r>
          </a:p>
        </p:txBody>
      </p:sp>
      <p:sp>
        <p:nvSpPr>
          <p:cNvPr id="25" name="co-name">
            <a:extLst xmlns:a="http://schemas.openxmlformats.org/drawingml/2006/main">
              <a:ext uri="{FF2B5EF4-FFF2-40B4-BE49-F238E27FC236}">
                <a16:creationId xmlns:a16="http://schemas.microsoft.com/office/drawing/2014/main" id="{34BC25ED-9A2A-4C6D-9177-4C333200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Mistral / DeepSeek</a:t>
            </a:r>
          </a:p>
        </p:txBody>
      </p:sp>
      <p:sp>
        <p:nvSpPr>
          <p:cNvPr id="26" name="co-desc">
            <a:extLst xmlns:a="http://schemas.openxmlformats.org/drawingml/2006/main">
              <a:ext uri="{FF2B5EF4-FFF2-40B4-BE49-F238E27FC236}">
                <a16:creationId xmlns:a16="http://schemas.microsoft.com/office/drawing/2014/main" id="{60FCFFEF-A720-4F14-8C0B-0D39B639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14850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Mistral、DeepSeek-V3/R1</a:t>
            </a:r>
          </a:p>
        </p:txBody>
      </p:sp>
      <p:sp>
        <p:nvSpPr>
          <p:cNvPr id="27" name="co-name">
            <a:extLst xmlns:a="http://schemas.openxmlformats.org/drawingml/2006/main">
              <a:ext uri="{FF2B5EF4-FFF2-40B4-BE49-F238E27FC236}">
                <a16:creationId xmlns:a16="http://schemas.microsoft.com/office/drawing/2014/main" id="{5BD8471D-6D66-4703-AA06-842D879E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月之暗面</a:t>
            </a:r>
          </a:p>
        </p:txBody>
      </p:sp>
      <p:sp>
        <p:nvSpPr>
          <p:cNvPr id="28" name="co-desc">
            <a:extLst xmlns:a="http://schemas.openxmlformats.org/drawingml/2006/main">
              <a:ext uri="{FF2B5EF4-FFF2-40B4-BE49-F238E27FC236}">
                <a16:creationId xmlns:a16="http://schemas.microsoft.com/office/drawing/2014/main" id="{0DEECB62-4C10-4383-82E2-B602B17A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Kimi</a:t>
            </a:r>
          </a:p>
        </p:txBody>
      </p:sp>
      <p:sp>
        <p:nvSpPr>
          <p:cNvPr id="29" name="co-note">
            <a:extLst xmlns:a="http://schemas.openxmlformats.org/drawingml/2006/main">
              <a:ext uri="{FF2B5EF4-FFF2-40B4-BE49-F238E27FC236}">
                <a16:creationId xmlns:a16="http://schemas.microsoft.com/office/drawing/2014/main" id="{E71CBBBA-9D19-4878-9BF7-71A166A3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国内还有 MiniMax、科大讯飞星火、阶跃星辰、零一万物、百川智能等。</a:t>
            </a:r>
          </a:p>
        </p:txBody>
      </p:sp>
      <p:sp>
        <p:nvSpPr>
          <p:cNvPr id="3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A283F15-0CD2-4FAA-B06E-753C53E8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大语言模型入门 · LLM 基础</a:t>
            </a:r>
          </a:p>
        </p:txBody>
      </p:sp>
      <p:sp>
        <p:nvSpPr>
          <p:cNvPr id="3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5447917-D6FE-4B6F-9672-8D894E25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186427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61C4B94B-B3BD-44CF-968A-15D70728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2904A89-CF56-4AE9-9110-F078EFAE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一句话记住 LLM</a:t>
            </a:r>
          </a:p>
        </p:txBody>
      </p:sp>
      <p:sp>
        <p:nvSpPr>
          <p:cNvPr id="3" name="sum-panel">
            <a:extLst xmlns:a="http://schemas.openxmlformats.org/drawingml/2006/main">
              <a:ext uri="{FF2B5EF4-FFF2-40B4-BE49-F238E27FC236}">
                <a16:creationId xmlns:a16="http://schemas.microsoft.com/office/drawing/2014/main" id="{21A862DA-48B6-4ED9-8FD6-1B4D0BD7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m-takeaway">
            <a:extLst xmlns:a="http://schemas.openxmlformats.org/drawingml/2006/main">
              <a:ext uri="{FF2B5EF4-FFF2-40B4-BE49-F238E27FC236}">
                <a16:creationId xmlns:a16="http://schemas.microsoft.com/office/drawing/2014/main" id="{7117D067-17D9-4C4D-BA96-29A18D29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10210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LLM 是“预测下一个词”的海量参数模型，以 Transformer 为核心，经预训练与对齐后成为能对话、能推理、能写代码的助手；2022 年由 ChatGPT 引爆，如今已进入开源与闭源并行、多模态与智能体全面发展的阶段。</a:t>
            </a:r>
          </a:p>
        </p:txBody>
      </p:sp>
      <p:sp>
        <p:nvSpPr>
          <p:cNvPr id="5" name="sum-trend-label">
            <a:extLst xmlns:a="http://schemas.openxmlformats.org/drawingml/2006/main">
              <a:ext uri="{FF2B5EF4-FFF2-40B4-BE49-F238E27FC236}">
                <a16:creationId xmlns:a16="http://schemas.microsoft.com/office/drawing/2014/main" id="{F4FBD083-F3CE-41DB-8CED-2DAA08BE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当前趋势</a:t>
            </a:r>
          </a:p>
        </p:txBody>
      </p:sp>
      <p:sp>
        <p:nvSpPr>
          <p:cNvPr id="6" name="sum-trend-num">
            <a:extLst xmlns:a="http://schemas.openxmlformats.org/drawingml/2006/main">
              <a:ext uri="{FF2B5EF4-FFF2-40B4-BE49-F238E27FC236}">
                <a16:creationId xmlns:a16="http://schemas.microsoft.com/office/drawing/2014/main" id="{D589EA30-4961-499C-A3B1-48618DC0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sum-trend-text">
            <a:extLst xmlns:a="http://schemas.openxmlformats.org/drawingml/2006/main">
              <a:ext uri="{FF2B5EF4-FFF2-40B4-BE49-F238E27FC236}">
                <a16:creationId xmlns:a16="http://schemas.microsoft.com/office/drawing/2014/main" id="{78A57A19-653C-4062-9F83-6A3F5098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开源与闭源并行：Llama、DeepSeek、Qwen 等开源生态持续壮大</a:t>
            </a:r>
          </a:p>
        </p:txBody>
      </p:sp>
      <p:sp>
        <p:nvSpPr>
          <p:cNvPr id="8" name="sum-trend-num">
            <a:extLst xmlns:a="http://schemas.openxmlformats.org/drawingml/2006/main">
              <a:ext uri="{FF2B5EF4-FFF2-40B4-BE49-F238E27FC236}">
                <a16:creationId xmlns:a16="http://schemas.microsoft.com/office/drawing/2014/main" id="{D5611A5B-A809-4122-9003-9C76EB73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sum-trend-text">
            <a:extLst xmlns:a="http://schemas.openxmlformats.org/drawingml/2006/main">
              <a:ext uri="{FF2B5EF4-FFF2-40B4-BE49-F238E27FC236}">
                <a16:creationId xmlns:a16="http://schemas.microsoft.com/office/drawing/2014/main" id="{634CC7B0-0B9D-4699-8661-DDC95CD0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29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新架构降低成本：混合专家（MoE）已成为主流选择</a:t>
            </a:r>
          </a:p>
        </p:txBody>
      </p:sp>
      <p:sp>
        <p:nvSpPr>
          <p:cNvPr id="10" name="sum-trend-num">
            <a:extLst xmlns:a="http://schemas.openxmlformats.org/drawingml/2006/main">
              <a:ext uri="{FF2B5EF4-FFF2-40B4-BE49-F238E27FC236}">
                <a16:creationId xmlns:a16="http://schemas.microsoft.com/office/drawing/2014/main" id="{7B1E6389-C626-4598-9C2E-3832DBED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sum-trend-text">
            <a:extLst xmlns:a="http://schemas.openxmlformats.org/drawingml/2006/main">
              <a:ext uri="{FF2B5EF4-FFF2-40B4-BE49-F238E27FC236}">
                <a16:creationId xmlns:a16="http://schemas.microsoft.com/office/drawing/2014/main" id="{85971236-3BB3-4FCC-B96F-DDBBC86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0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推理模型兴起：先思考再回答，数学与编程更强</a:t>
            </a:r>
          </a:p>
        </p:txBody>
      </p:sp>
      <p:sp>
        <p:nvSpPr>
          <p:cNvPr id="12" name="sum-trend-num">
            <a:extLst xmlns:a="http://schemas.openxmlformats.org/drawingml/2006/main">
              <a:ext uri="{FF2B5EF4-FFF2-40B4-BE49-F238E27FC236}">
                <a16:creationId xmlns:a16="http://schemas.microsoft.com/office/drawing/2014/main" id="{32642532-D5DC-443E-A83C-06A939D3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sum-trend-text">
            <a:extLst xmlns:a="http://schemas.openxmlformats.org/drawingml/2006/main">
              <a:ext uri="{FF2B5EF4-FFF2-40B4-BE49-F238E27FC236}">
                <a16:creationId xmlns:a16="http://schemas.microsoft.com/office/drawing/2014/main" id="{64805922-C972-49B3-9E8F-AB827CFC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多模态与智能体：理解图像视频，主动调用工具完成任务</a:t>
            </a:r>
          </a:p>
        </p:txBody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60476A0-31CC-4FE0-8825-845438E5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大语言模型入门 · LLM 基础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B6DF77D-8E1D-461D-B44E-3D9DD72E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8205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2026-08-18T03:42:54.7640000Z</dcterms:created>
  <dcterms:modified xsi:type="dcterms:W3CDTF">2026-08-18T03:42:54.7640000Z</dcterms:modified>
</coreProperties>
</file>